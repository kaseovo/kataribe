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17.png"/><Relationship Id="rId7" Type="http://schemas.openxmlformats.org/officeDocument/2006/relationships/image" Target="../media/image15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hyperlink" Target="https://github.com/kaseovo/kataribe" TargetMode="External"/><Relationship Id="rId6" Type="http://schemas.openxmlformats.org/officeDocument/2006/relationships/hyperlink" Target="https://youtu.be/wg3SdraT2Oo" TargetMode="External"/><Relationship Id="rId7" Type="http://schemas.openxmlformats.org/officeDocument/2006/relationships/hyperlink" Target="https://kataribe.kaseovo.com" TargetMode="External"/><Relationship Id="rId8" Type="http://schemas.openxmlformats.org/officeDocument/2006/relationships/image" Target="../media/image28.png"/><Relationship Id="rId9" Type="http://schemas.openxmlformats.org/officeDocument/2006/relationships/image" Target="../media/image29.png"/><Relationship Id="rId10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1.png"/><Relationship Id="rId6" Type="http://schemas.openxmlformats.org/officeDocument/2006/relationships/image" Target="../media/image13.png"/><Relationship Id="rId7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Tanguy Pemeja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Sustainability &amp; Social Impact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Name"/>
          <p:cNvSpPr txBox="1"/>
          <p:nvPr/>
        </p:nvSpPr>
        <p:spPr>
          <a:xfrm>
            <a:off x="356616" y="132588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 </a:t>
            </a:r>
            <a:r>
              <a:rPr lang="en-GB" sz="240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語り部</a:t>
            </a:r>
          </a:p>
        </p:txBody>
      </p:sp>
      <p:sp>
        <p:nvSpPr>
          <p:cNvPr id="73" name="One-liner"/>
          <p:cNvSpPr txBox="1"/>
          <p:nvPr/>
        </p:nvSpPr>
        <p:spPr>
          <a:xfrm>
            <a:off x="356616" y="1847088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4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Every grandparent has stories nobody has asked about yet.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Kataribe talks with an elderly person for a few minutes a day, in Japanese, and turns what they remember into a life story their family can read, and hear in their own voice.</a:t>
            </a:r>
          </a:p>
        </p:txBody>
      </p:sp>
      <p:sp>
        <p:nvSpPr>
          <p:cNvPr id="74" name="The Problem"/>
          <p:cNvSpPr txBox="1"/>
          <p:nvPr/>
        </p:nvSpPr>
        <p:spPr>
          <a:xfrm>
            <a:off x="356616" y="2852928"/>
            <a:ext cx="50292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PROBLEM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Japanese seniors spend their days alone, and their families never find the time or the courage to ask about their lives. The stories go unrecorded.</a:t>
            </a:r>
          </a:p>
        </p:txBody>
      </p:sp>
      <p:sp>
        <p:nvSpPr>
          <p:cNvPr id="75" name="Who It'S For"/>
          <p:cNvSpPr txBox="1"/>
          <p:nvPr/>
        </p:nvSpPr>
        <p:spPr>
          <a:xfrm>
            <a:off x="356616" y="3529584"/>
            <a:ext cx="50292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IT'S FOR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Them: a few minutes a day about their own life. Their family: the stories they never asked for. Next, their town: a friend, a carer, a local archive.</a:t>
            </a:r>
          </a:p>
        </p:txBody>
      </p:sp>
      <p:sp>
        <p:nvSpPr>
          <p:cNvPr id="76" name="Not A Companion"/>
          <p:cNvSpPr txBox="1"/>
          <p:nvPr/>
        </p:nvSpPr>
        <p:spPr>
          <a:xfrm>
            <a:off x="356616" y="4206240"/>
            <a:ext cx="5029200" cy="6583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NOT A COMPANION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does not stand in for anyone. A kataribe is a keeper of oral history; this one helps the people around them know them better.</a:t>
            </a:r>
          </a:p>
        </p:txBody>
      </p:sp>
      <p:sp>
        <p:nvSpPr>
          <p:cNvPr id="77" name="Stat 6.72M"/>
          <p:cNvSpPr/>
          <p:nvPr/>
        </p:nvSpPr>
        <p:spPr>
          <a:xfrm>
            <a:off x="5715000" y="1325880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Stat 6.72M text"/>
          <p:cNvSpPr txBox="1"/>
          <p:nvPr/>
        </p:nvSpPr>
        <p:spPr>
          <a:xfrm>
            <a:off x="5943600" y="1508760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6.72M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people aged 65 and over live alone in Japan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2020 census · Cabinet Office, Annual Report on the Ageing Society</a:t>
            </a:r>
          </a:p>
        </p:txBody>
      </p:sp>
      <p:sp>
        <p:nvSpPr>
          <p:cNvPr id="79" name="Stat ¥220,000"/>
          <p:cNvSpPr/>
          <p:nvPr/>
        </p:nvSpPr>
        <p:spPr>
          <a:xfrm>
            <a:off x="5715000" y="3136392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Stat ¥220,000 text"/>
          <p:cNvSpPr txBox="1"/>
          <p:nvPr/>
        </p:nvSpPr>
        <p:spPr>
          <a:xfrm>
            <a:off x="5943600" y="3319272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¥220,000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one professionally written self-history (自分史), made once, by hand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Oya no Zasshi (親の雑誌, Kokoromi), price incl. tax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Positioning"/>
          <p:cNvSpPr txBox="1"/>
          <p:nvPr/>
        </p:nvSpPr>
        <p:spPr>
          <a:xfrm>
            <a:off x="356616" y="1261872"/>
            <a:ext cx="84307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Not a companion that stands in for anyone: a way for the people around them to know them better.</a:t>
            </a:r>
          </a:p>
        </p:txBody>
      </p:sp>
      <p:sp>
        <p:nvSpPr>
          <p:cNvPr id="81" name="Card 1"/>
          <p:cNvSpPr/>
          <p:nvPr/>
        </p:nvSpPr>
        <p:spPr>
          <a:xfrm>
            <a:off x="356616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Card 1 text"/>
          <p:cNvSpPr txBox="1"/>
          <p:nvPr/>
        </p:nvSpPr>
        <p:spPr>
          <a:xfrm>
            <a:off x="539496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different is it from any of the other existing ideas?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Memoir AIs (Tell Mel, Storyworth, Remento) rewrite a parent's words into chapters, and the family chooses who receives them.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Companion AIs (Cotomo, by Starley) keep seniors company, but no life story comes out.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human-written self-history costs ¥220,000, and is made once.</a:t>
            </a:r>
          </a:p>
        </p:txBody>
      </p:sp>
      <p:sp>
        <p:nvSpPr>
          <p:cNvPr id="83" name="Card 2"/>
          <p:cNvSpPr/>
          <p:nvPr/>
        </p:nvSpPr>
        <p:spPr>
          <a:xfrm>
            <a:off x="3233928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Card 2 text"/>
          <p:cNvSpPr txBox="1"/>
          <p:nvPr/>
        </p:nvSpPr>
        <p:spPr>
          <a:xfrm>
            <a:off x="3416808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will it be able to solve the problem?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a day in natural Japanese. The interviewer speaks first: nothing to install or learn.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conversation becomes stories, set as a book by time of life. What is untold plans the next.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read what was shared, hear the voice behind each quote, and send questions it asks next.</a:t>
            </a:r>
          </a:p>
        </p:txBody>
      </p:sp>
      <p:sp>
        <p:nvSpPr>
          <p:cNvPr id="85" name="Card 3"/>
          <p:cNvSpPr/>
          <p:nvPr/>
        </p:nvSpPr>
        <p:spPr>
          <a:xfrm>
            <a:off x="6111240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Card 3 text"/>
          <p:cNvSpPr txBox="1"/>
          <p:nvPr/>
        </p:nvSpPr>
        <p:spPr>
          <a:xfrm>
            <a:off x="6294120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USP of the proposed solution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Theirs to give: nothing reaches the family without a yes in their own words, and any story can be taken back.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retells, but never adds: every fact has a quote, found word for word, then heard in the recording.</a:t>
            </a:r>
          </a:p>
          <a:p>
            <a:pPr algn="l" marL="153670" indent="-153670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for Japanese: honorific register, names spelled from the profile, patience for a pause.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1"/>
          <p:cNvSpPr/>
          <p:nvPr/>
        </p:nvSpPr>
        <p:spPr>
          <a:xfrm>
            <a:off x="356616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MdRecordVoiceOver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91" name="Feature 1 text"/>
          <p:cNvSpPr txBox="1"/>
          <p:nvPr/>
        </p:nvSpPr>
        <p:spPr>
          <a:xfrm>
            <a:off x="521208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Talks in Japanese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Live, voice to voice. Speaks first, asks one thing, waits 5 s through a pause.</a:t>
            </a:r>
          </a:p>
        </p:txBody>
      </p:sp>
      <p:sp>
        <p:nvSpPr>
          <p:cNvPr id="92" name="Feature 2"/>
          <p:cNvSpPr/>
          <p:nvPr/>
        </p:nvSpPr>
        <p:spPr>
          <a:xfrm>
            <a:off x="2510028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MdHistory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95" name="Feature 2 text"/>
          <p:cNvSpPr txBox="1"/>
          <p:nvPr/>
        </p:nvSpPr>
        <p:spPr>
          <a:xfrm>
            <a:off x="2674620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Remembers last time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by recalling the last conversation, or with a question the family sent.</a:t>
            </a:r>
          </a:p>
        </p:txBody>
      </p:sp>
      <p:sp>
        <p:nvSpPr>
          <p:cNvPr id="96" name="Feature 3"/>
          <p:cNvSpPr/>
          <p:nvPr/>
        </p:nvSpPr>
        <p:spPr>
          <a:xfrm>
            <a:off x="4663440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MdMenuBook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99" name="Feature 3 text"/>
          <p:cNvSpPr txBox="1"/>
          <p:nvPr/>
        </p:nvSpPr>
        <p:spPr>
          <a:xfrm>
            <a:off x="4828032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life story, as a book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Chapters by time of life. Each story retold, its quotes a press away, each with its clip.</a:t>
            </a:r>
          </a:p>
        </p:txBody>
      </p:sp>
      <p:sp>
        <p:nvSpPr>
          <p:cNvPr id="100" name="Feature 4"/>
          <p:cNvSpPr/>
          <p:nvPr/>
        </p:nvSpPr>
        <p:spPr>
          <a:xfrm>
            <a:off x="6816852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03" name="Feature 4 text"/>
          <p:cNvSpPr txBox="1"/>
          <p:nvPr/>
        </p:nvSpPr>
        <p:spPr>
          <a:xfrm>
            <a:off x="6981444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Never adds a detail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fact retold has a quote; each quote found word for word, then heard in its clip.</a:t>
            </a:r>
          </a:p>
        </p:txBody>
      </p:sp>
      <p:sp>
        <p:nvSpPr>
          <p:cNvPr id="104" name="Feature 5"/>
          <p:cNvSpPr/>
          <p:nvPr/>
        </p:nvSpPr>
        <p:spPr>
          <a:xfrm>
            <a:off x="356616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21208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MdTimelin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45" y="3430097"/>
            <a:ext cx="235549" cy="235549"/>
          </a:xfrm>
          <a:prstGeom prst="rect">
            <a:avLst/>
          </a:prstGeom>
        </p:spPr>
      </p:pic>
      <p:sp>
        <p:nvSpPr>
          <p:cNvPr id="107" name="Feature 5 text"/>
          <p:cNvSpPr txBox="1"/>
          <p:nvPr/>
        </p:nvSpPr>
        <p:spPr>
          <a:xfrm>
            <a:off x="521208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Plans from the gaps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the times of life not yet told, and plans the next three questions.</a:t>
            </a:r>
          </a:p>
        </p:txBody>
      </p:sp>
      <p:sp>
        <p:nvSpPr>
          <p:cNvPr id="108" name="Feature 6"/>
          <p:cNvSpPr/>
          <p:nvPr/>
        </p:nvSpPr>
        <p:spPr>
          <a:xfrm>
            <a:off x="2510028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674620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0" name="Picture 109" descr="MdVerifiedUs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7157" y="3430097"/>
            <a:ext cx="235549" cy="235549"/>
          </a:xfrm>
          <a:prstGeom prst="rect">
            <a:avLst/>
          </a:prstGeom>
        </p:spPr>
      </p:pic>
      <p:sp>
        <p:nvSpPr>
          <p:cNvPr id="111" name="Feature 6 text"/>
          <p:cNvSpPr txBox="1"/>
          <p:nvPr/>
        </p:nvSpPr>
        <p:spPr>
          <a:xfrm>
            <a:off x="2674620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Asked at the close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only on a yes in their own words. No reply: asked again. Any story can be taken back.</a:t>
            </a:r>
          </a:p>
        </p:txBody>
      </p:sp>
      <p:sp>
        <p:nvSpPr>
          <p:cNvPr id="112" name="Feature 7"/>
          <p:cNvSpPr/>
          <p:nvPr/>
        </p:nvSpPr>
        <p:spPr>
          <a:xfrm>
            <a:off x="4663440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828032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Forum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0569" y="3430097"/>
            <a:ext cx="235549" cy="235549"/>
          </a:xfrm>
          <a:prstGeom prst="rect">
            <a:avLst/>
          </a:prstGeom>
        </p:spPr>
      </p:pic>
      <p:sp>
        <p:nvSpPr>
          <p:cNvPr id="115" name="Feature 7 text"/>
          <p:cNvSpPr txBox="1"/>
          <p:nvPr/>
        </p:nvSpPr>
        <p:spPr>
          <a:xfrm>
            <a:off x="4828032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asks back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says who they are and asks; it says who asked. Refused topics are never raised.</a:t>
            </a:r>
          </a:p>
        </p:txBody>
      </p:sp>
      <p:sp>
        <p:nvSpPr>
          <p:cNvPr id="116" name="Feature 8"/>
          <p:cNvSpPr/>
          <p:nvPr/>
        </p:nvSpPr>
        <p:spPr>
          <a:xfrm>
            <a:off x="6816852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981444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Translate-D98F4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73981" y="3430097"/>
            <a:ext cx="235549" cy="235549"/>
          </a:xfrm>
          <a:prstGeom prst="rect">
            <a:avLst/>
          </a:prstGeom>
        </p:spPr>
      </p:pic>
      <p:sp>
        <p:nvSpPr>
          <p:cNvPr id="119" name="Feature 8 text"/>
          <p:cNvSpPr txBox="1"/>
          <p:nvPr/>
        </p:nvSpPr>
        <p:spPr>
          <a:xfrm>
            <a:off x="6981444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Japanese, with English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 in one language at a time, with a switch. Quotes keep the words as said.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Step 1"/>
          <p:cNvSpPr/>
          <p:nvPr/>
        </p:nvSpPr>
        <p:spPr>
          <a:xfrm>
            <a:off x="356616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4632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8" name="Step 1 text"/>
          <p:cNvSpPr txBox="1"/>
          <p:nvPr/>
        </p:nvSpPr>
        <p:spPr>
          <a:xfrm>
            <a:off x="868680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Live, by voice. Speaks first, asks one thing, waits through a pause.</a:t>
            </a:r>
          </a:p>
        </p:txBody>
      </p:sp>
      <p:sp>
        <p:nvSpPr>
          <p:cNvPr id="99" name="Step 2"/>
          <p:cNvSpPr/>
          <p:nvPr/>
        </p:nvSpPr>
        <p:spPr>
          <a:xfrm>
            <a:off x="3383280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11296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1" name="Step 2 text"/>
          <p:cNvSpPr txBox="1"/>
          <p:nvPr/>
        </p:nvSpPr>
        <p:spPr>
          <a:xfrm>
            <a:off x="3895344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Write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talk becomes stories, each resting on their own sentences.</a:t>
            </a:r>
          </a:p>
        </p:txBody>
      </p:sp>
      <p:sp>
        <p:nvSpPr>
          <p:cNvPr id="102" name="Step 3"/>
          <p:cNvSpPr/>
          <p:nvPr/>
        </p:nvSpPr>
        <p:spPr>
          <a:xfrm>
            <a:off x="6409944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537960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4" name="Step 3 text"/>
          <p:cNvSpPr txBox="1"/>
          <p:nvPr/>
        </p:nvSpPr>
        <p:spPr>
          <a:xfrm>
            <a:off x="6922008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Check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quote found word for word, then heard in the recording.</a:t>
            </a:r>
          </a:p>
        </p:txBody>
      </p:sp>
      <p:sp>
        <p:nvSpPr>
          <p:cNvPr id="105" name="Step 4"/>
          <p:cNvSpPr/>
          <p:nvPr/>
        </p:nvSpPr>
        <p:spPr>
          <a:xfrm>
            <a:off x="6409944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37960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07" name="Step 4 text"/>
          <p:cNvSpPr txBox="1"/>
          <p:nvPr/>
        </p:nvSpPr>
        <p:spPr>
          <a:xfrm>
            <a:off x="6922008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Share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At the close: may the family read today's? Only a yes goes on.</a:t>
            </a:r>
          </a:p>
        </p:txBody>
      </p:sp>
      <p:sp>
        <p:nvSpPr>
          <p:cNvPr id="108" name="Step 5"/>
          <p:cNvSpPr/>
          <p:nvPr/>
        </p:nvSpPr>
        <p:spPr>
          <a:xfrm>
            <a:off x="3383280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511296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10" name="Step 5 text"/>
          <p:cNvSpPr txBox="1"/>
          <p:nvPr/>
        </p:nvSpPr>
        <p:spPr>
          <a:xfrm>
            <a:off x="3895344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what is still untold; plans the next three questions.</a:t>
            </a:r>
          </a:p>
        </p:txBody>
      </p:sp>
      <p:sp>
        <p:nvSpPr>
          <p:cNvPr id="111" name="Next conversation"/>
          <p:cNvSpPr/>
          <p:nvPr/>
        </p:nvSpPr>
        <p:spPr>
          <a:xfrm>
            <a:off x="356616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66344" y="2651760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3" name="Picture 112" descr="MdHistor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741" y="2720157"/>
            <a:ext cx="174102" cy="174102"/>
          </a:xfrm>
          <a:prstGeom prst="rect">
            <a:avLst/>
          </a:prstGeom>
        </p:spPr>
      </p:pic>
      <p:sp>
        <p:nvSpPr>
          <p:cNvPr id="114" name="Next conversation text"/>
          <p:cNvSpPr txBox="1"/>
          <p:nvPr/>
        </p:nvSpPr>
        <p:spPr>
          <a:xfrm>
            <a:off x="868680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 conversation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with last time, or with the family's question.</a:t>
            </a:r>
          </a:p>
        </p:txBody>
      </p:sp>
      <p:sp>
        <p:nvSpPr>
          <p:cNvPr id="115" name="Screened"/>
          <p:cNvSpPr/>
          <p:nvPr/>
        </p:nvSpPr>
        <p:spPr>
          <a:xfrm>
            <a:off x="356616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66344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7" name="Picture 116" descr="MdVerifiedUser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741" y="3936309"/>
            <a:ext cx="174102" cy="174102"/>
          </a:xfrm>
          <a:prstGeom prst="rect">
            <a:avLst/>
          </a:prstGeom>
        </p:spPr>
      </p:pic>
      <p:sp>
        <p:nvSpPr>
          <p:cNvPr id="118" name="Screened text"/>
          <p:cNvSpPr txBox="1"/>
          <p:nvPr/>
        </p:nvSpPr>
        <p:spPr>
          <a:xfrm>
            <a:off x="868680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Screened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question touching a refused topic is quietly held back.</a:t>
            </a:r>
          </a:p>
        </p:txBody>
      </p:sp>
      <p:sp>
        <p:nvSpPr>
          <p:cNvPr id="119" name="Family asks back"/>
          <p:cNvSpPr/>
          <p:nvPr/>
        </p:nvSpPr>
        <p:spPr>
          <a:xfrm>
            <a:off x="3383280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3493008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Forum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1405" y="3936309"/>
            <a:ext cx="174102" cy="174102"/>
          </a:xfrm>
          <a:prstGeom prst="rect">
            <a:avLst/>
          </a:prstGeom>
        </p:spPr>
      </p:pic>
      <p:sp>
        <p:nvSpPr>
          <p:cNvPr id="122" name="Family asks back text"/>
          <p:cNvSpPr txBox="1"/>
          <p:nvPr/>
        </p:nvSpPr>
        <p:spPr>
          <a:xfrm>
            <a:off x="3895344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asks back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says who they are, then asks: grandchild Yuka.</a:t>
            </a:r>
          </a:p>
        </p:txBody>
      </p:sp>
      <p:sp>
        <p:nvSpPr>
          <p:cNvPr id="123" name="Family reads"/>
          <p:cNvSpPr/>
          <p:nvPr/>
        </p:nvSpPr>
        <p:spPr>
          <a:xfrm>
            <a:off x="6409944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519672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5" name="Picture 124" descr="MdFamilyRestroom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8069" y="3936309"/>
            <a:ext cx="174102" cy="174102"/>
          </a:xfrm>
          <a:prstGeom prst="rect">
            <a:avLst/>
          </a:prstGeom>
        </p:spPr>
      </p:pic>
      <p:sp>
        <p:nvSpPr>
          <p:cNvPr id="126" name="Family reads text"/>
          <p:cNvSpPr txBox="1"/>
          <p:nvPr/>
        </p:nvSpPr>
        <p:spPr>
          <a:xfrm>
            <a:off x="6922008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reads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book by time of life; each quote with its clip.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2788920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8" name="Connector 127"/>
          <p:cNvCxnSpPr/>
          <p:nvPr/>
        </p:nvCxnSpPr>
        <p:spPr>
          <a:xfrm>
            <a:off x="5815584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9" name="Connector 128"/>
          <p:cNvCxnSpPr/>
          <p:nvPr/>
        </p:nvCxnSpPr>
        <p:spPr>
          <a:xfrm>
            <a:off x="7598664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0" name="Connector 129"/>
          <p:cNvCxnSpPr/>
          <p:nvPr/>
        </p:nvCxnSpPr>
        <p:spPr>
          <a:xfrm flipH="1">
            <a:off x="5815584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1" name="Connector 130"/>
          <p:cNvCxnSpPr/>
          <p:nvPr/>
        </p:nvCxnSpPr>
        <p:spPr>
          <a:xfrm flipH="1">
            <a:off x="2788920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 flipV="1">
            <a:off x="1545336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>
            <a:off x="7598664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4" name="Connector 133"/>
          <p:cNvCxnSpPr/>
          <p:nvPr/>
        </p:nvCxnSpPr>
        <p:spPr>
          <a:xfrm flipH="1">
            <a:off x="5815584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5" name="Connector 134"/>
          <p:cNvCxnSpPr/>
          <p:nvPr/>
        </p:nvCxnSpPr>
        <p:spPr>
          <a:xfrm flipH="1">
            <a:off x="2788920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6" name="Connector 135"/>
          <p:cNvCxnSpPr/>
          <p:nvPr/>
        </p:nvCxnSpPr>
        <p:spPr>
          <a:xfrm flipV="1">
            <a:off x="1545336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sp>
        <p:nvSpPr>
          <p:cNvPr id="137" name="Shared label"/>
          <p:cNvSpPr txBox="1"/>
          <p:nvPr/>
        </p:nvSpPr>
        <p:spPr>
          <a:xfrm>
            <a:off x="6117336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only what was shared</a:t>
            </a:r>
          </a:p>
        </p:txBody>
      </p:sp>
      <p:sp>
        <p:nvSpPr>
          <p:cNvPr id="138" name="Limit label"/>
          <p:cNvSpPr txBox="1"/>
          <p:nvPr/>
        </p:nvSpPr>
        <p:spPr>
          <a:xfrm>
            <a:off x="1655064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two at most</a:t>
            </a:r>
          </a:p>
        </p:txBody>
      </p:sp>
      <p:sp>
        <p:nvSpPr>
          <p:cNvPr id="139" name="Loop label"/>
          <p:cNvSpPr txBox="1"/>
          <p:nvPr/>
        </p:nvSpPr>
        <p:spPr>
          <a:xfrm>
            <a:off x="1655064" y="22219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next time</a:t>
            </a:r>
          </a:p>
        </p:txBody>
      </p:sp>
      <p:sp>
        <p:nvSpPr>
          <p:cNvPr id="140" name="Legend swatch"/>
          <p:cNvSpPr/>
          <p:nvPr/>
        </p:nvSpPr>
        <p:spPr>
          <a:xfrm>
            <a:off x="598932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Legend 1"/>
          <p:cNvSpPr txBox="1"/>
          <p:nvPr/>
        </p:nvSpPr>
        <p:spPr>
          <a:xfrm>
            <a:off x="6217920" y="81381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Every conversation</a:t>
            </a:r>
          </a:p>
        </p:txBody>
      </p:sp>
      <p:sp>
        <p:nvSpPr>
          <p:cNvPr id="142" name="Legend swatch 2"/>
          <p:cNvSpPr/>
          <p:nvPr/>
        </p:nvSpPr>
        <p:spPr>
          <a:xfrm>
            <a:off x="763524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BEEE2"/>
          </a:solidFill>
          <a:ln w="9525">
            <a:solidFill>
              <a:srgbClr val="D98F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Legend 2"/>
          <p:cNvSpPr txBox="1"/>
          <p:nvPr/>
        </p:nvSpPr>
        <p:spPr>
          <a:xfrm>
            <a:off x="7863840" y="81381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family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ablet frame"/>
          <p:cNvSpPr/>
          <p:nvPr/>
        </p:nvSpPr>
        <p:spPr>
          <a:xfrm>
            <a:off x="356616" y="1325880"/>
            <a:ext cx="4343400" cy="2514600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ablet screen"/>
          <p:cNvSpPr/>
          <p:nvPr/>
        </p:nvSpPr>
        <p:spPr>
          <a:xfrm>
            <a:off x="521208" y="1490472"/>
            <a:ext cx="4014216" cy="2185416"/>
          </a:xfrm>
          <a:prstGeom prst="roundRect">
            <a:avLst>
              <a:gd name="adj" fmla="val 2510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8368" y="15819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小川節子さん</a:t>
            </a:r>
          </a:p>
        </p:txBody>
      </p:sp>
      <p:sp>
        <p:nvSpPr>
          <p:cNvPr id="107" name="Interviewer's words"/>
          <p:cNvSpPr txBox="1"/>
          <p:nvPr/>
        </p:nvSpPr>
        <p:spPr>
          <a:xfrm>
            <a:off x="749808" y="1783080"/>
            <a:ext cx="3236976" cy="7132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50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郡上おどり、いいですねえ。どなたと踊られたんですか。</a:t>
            </a:r>
          </a:p>
        </p:txBody>
      </p:sp>
      <p:sp>
        <p:nvSpPr>
          <p:cNvPr id="108" name="Level 0"/>
          <p:cNvSpPr/>
          <p:nvPr/>
        </p:nvSpPr>
        <p:spPr>
          <a:xfrm>
            <a:off x="1933956" y="2688336"/>
            <a:ext cx="64008" cy="9144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Level 1"/>
          <p:cNvSpPr/>
          <p:nvPr/>
        </p:nvSpPr>
        <p:spPr>
          <a:xfrm>
            <a:off x="2052828" y="2633472"/>
            <a:ext cx="64008" cy="201168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vel 2"/>
          <p:cNvSpPr/>
          <p:nvPr/>
        </p:nvSpPr>
        <p:spPr>
          <a:xfrm>
            <a:off x="2171700" y="2578608"/>
            <a:ext cx="64008" cy="31089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Level 3"/>
          <p:cNvSpPr/>
          <p:nvPr/>
        </p:nvSpPr>
        <p:spPr>
          <a:xfrm>
            <a:off x="2290572" y="2642616"/>
            <a:ext cx="64008" cy="18288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Level 4"/>
          <p:cNvSpPr/>
          <p:nvPr/>
        </p:nvSpPr>
        <p:spPr>
          <a:xfrm>
            <a:off x="2409444" y="2606040"/>
            <a:ext cx="64008" cy="25603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vel 5"/>
          <p:cNvSpPr/>
          <p:nvPr/>
        </p:nvSpPr>
        <p:spPr>
          <a:xfrm>
            <a:off x="2528316" y="2670048"/>
            <a:ext cx="64008" cy="12801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Level 6"/>
          <p:cNvSpPr/>
          <p:nvPr/>
        </p:nvSpPr>
        <p:spPr>
          <a:xfrm>
            <a:off x="2647188" y="2697480"/>
            <a:ext cx="64008" cy="7315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Phase"/>
          <p:cNvSpPr txBox="1"/>
          <p:nvPr/>
        </p:nvSpPr>
        <p:spPr>
          <a:xfrm>
            <a:off x="521208" y="2916936"/>
            <a:ext cx="3602736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お話ししています</a:t>
            </a:r>
          </a:p>
        </p:txBody>
      </p:sp>
      <p:sp>
        <p:nvSpPr>
          <p:cNvPr id="116" name="Finish button"/>
          <p:cNvSpPr/>
          <p:nvPr/>
        </p:nvSpPr>
        <p:spPr>
          <a:xfrm>
            <a:off x="1636776" y="3209544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A8503F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FFFFF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おわる</a:t>
            </a:r>
          </a:p>
        </p:txBody>
      </p:sp>
      <p:sp>
        <p:nvSpPr>
          <p:cNvPr id="117" name="Oval 116"/>
          <p:cNvSpPr/>
          <p:nvPr/>
        </p:nvSpPr>
        <p:spPr>
          <a:xfrm>
            <a:off x="4206240" y="20208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18" name="Oval 117"/>
          <p:cNvSpPr/>
          <p:nvPr/>
        </p:nvSpPr>
        <p:spPr>
          <a:xfrm>
            <a:off x="4206240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19" name="Oval 118"/>
          <p:cNvSpPr/>
          <p:nvPr/>
        </p:nvSpPr>
        <p:spPr>
          <a:xfrm>
            <a:off x="4206240" y="3264408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0" name="Tablet caption"/>
          <p:cNvSpPr txBox="1"/>
          <p:nvPr/>
        </p:nvSpPr>
        <p:spPr>
          <a:xfrm>
            <a:off x="356616" y="3950208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senior's screen: one button to start, nothing to learn</a:t>
            </a:r>
          </a:p>
        </p:txBody>
      </p:sp>
      <p:sp>
        <p:nvSpPr>
          <p:cNvPr id="121" name="Oval 120"/>
          <p:cNvSpPr/>
          <p:nvPr/>
        </p:nvSpPr>
        <p:spPr>
          <a:xfrm>
            <a:off x="35661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2" name="Tablet note 1"/>
          <p:cNvSpPr txBox="1"/>
          <p:nvPr/>
        </p:nvSpPr>
        <p:spPr>
          <a:xfrm>
            <a:off x="63093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Its words, large, as it says them</a:t>
            </a:r>
          </a:p>
        </p:txBody>
      </p:sp>
      <p:sp>
        <p:nvSpPr>
          <p:cNvPr id="123" name="Oval 122"/>
          <p:cNvSpPr/>
          <p:nvPr/>
        </p:nvSpPr>
        <p:spPr>
          <a:xfrm>
            <a:off x="255117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4" name="Tablet note 2"/>
          <p:cNvSpPr txBox="1"/>
          <p:nvPr/>
        </p:nvSpPr>
        <p:spPr>
          <a:xfrm>
            <a:off x="282549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Listening or speaking, calmly</a:t>
            </a:r>
          </a:p>
        </p:txBody>
      </p:sp>
      <p:sp>
        <p:nvSpPr>
          <p:cNvPr id="125" name="Oval 124"/>
          <p:cNvSpPr/>
          <p:nvPr/>
        </p:nvSpPr>
        <p:spPr>
          <a:xfrm>
            <a:off x="35661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6" name="Tablet note 3"/>
          <p:cNvSpPr txBox="1"/>
          <p:nvPr/>
        </p:nvSpPr>
        <p:spPr>
          <a:xfrm>
            <a:off x="63093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button to finish</a:t>
            </a:r>
          </a:p>
        </p:txBody>
      </p:sp>
      <p:sp>
        <p:nvSpPr>
          <p:cNvPr id="127" name="Tablet then"/>
          <p:cNvSpPr txBox="1"/>
          <p:nvPr/>
        </p:nvSpPr>
        <p:spPr>
          <a:xfrm>
            <a:off x="2551176" y="4572000"/>
            <a:ext cx="2743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→</a:t>
            </a:r>
          </a:p>
        </p:txBody>
      </p:sp>
      <p:sp>
        <p:nvSpPr>
          <p:cNvPr id="128" name="Tablet note 4"/>
          <p:cNvSpPr txBox="1"/>
          <p:nvPr/>
        </p:nvSpPr>
        <p:spPr>
          <a:xfrm>
            <a:off x="282549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Then, at the close: share today's story, or keep it</a:t>
            </a:r>
          </a:p>
        </p:txBody>
      </p:sp>
      <p:sp>
        <p:nvSpPr>
          <p:cNvPr id="129" name="Phone frame"/>
          <p:cNvSpPr/>
          <p:nvPr/>
        </p:nvSpPr>
        <p:spPr>
          <a:xfrm>
            <a:off x="4937760" y="1325880"/>
            <a:ext cx="1600200" cy="3291840"/>
          </a:xfrm>
          <a:prstGeom prst="roundRect">
            <a:avLst>
              <a:gd name="adj" fmla="val 1257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Phone screen"/>
          <p:cNvSpPr/>
          <p:nvPr/>
        </p:nvSpPr>
        <p:spPr>
          <a:xfrm>
            <a:off x="5029200" y="1490472"/>
            <a:ext cx="1417320" cy="2962656"/>
          </a:xfrm>
          <a:prstGeom prst="roundRect">
            <a:avLst>
              <a:gd name="adj" fmla="val 5161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38928" y="1581912"/>
            <a:ext cx="1234440" cy="566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LIFE STORY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Ogawa Setsuko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小川節子 · Born in 1944, Gifu</a:t>
            </a:r>
          </a:p>
        </p:txBody>
      </p:sp>
      <p:sp>
        <p:nvSpPr>
          <p:cNvPr id="132" name="A life story  3"/>
          <p:cNvSpPr/>
          <p:nvPr/>
        </p:nvSpPr>
        <p:spPr>
          <a:xfrm>
            <a:off x="5138928" y="2185416"/>
            <a:ext cx="603504" cy="16459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life story  3</a:t>
            </a:r>
          </a:p>
        </p:txBody>
      </p:sp>
      <p:sp>
        <p:nvSpPr>
          <p:cNvPr id="133" name="Questions  2"/>
          <p:cNvSpPr/>
          <p:nvPr/>
        </p:nvSpPr>
        <p:spPr>
          <a:xfrm>
            <a:off x="5779008" y="2185416"/>
            <a:ext cx="548640" cy="164592"/>
          </a:xfrm>
          <a:prstGeom prst="roundRect">
            <a:avLst>
              <a:gd name="adj" fmla="val 5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Questions  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38928" y="2441448"/>
            <a:ext cx="12344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CHAPTER 2 · MARRIAGE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138928" y="2587752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Gujo Odori and Meeting Kazuo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138928" y="2880360"/>
            <a:ext cx="121615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 the summer of Showa 40, when Setsuko was twenty-one, she met her husband Kazuo at the Gujo Odori…</a:t>
            </a:r>
          </a:p>
        </p:txBody>
      </p:sp>
      <p:sp>
        <p:nvSpPr>
          <p:cNvPr id="137" name="Quotes button"/>
          <p:cNvSpPr/>
          <p:nvPr/>
        </p:nvSpPr>
        <p:spPr>
          <a:xfrm>
            <a:off x="5138928" y="3273552"/>
            <a:ext cx="713232" cy="155448"/>
          </a:xfrm>
          <a:prstGeom prst="roundRect">
            <a:avLst>
              <a:gd name="adj" fmla="val 47058"/>
            </a:avLst>
          </a:prstGeom>
          <a:solidFill>
            <a:srgbClr val="12100E"/>
          </a:solidFill>
          <a:ln w="9525">
            <a:solidFill>
              <a:srgbClr val="5A4A3C"/>
            </a:solidFill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All 2 quotes</a:t>
            </a:r>
          </a:p>
        </p:txBody>
      </p:sp>
      <p:sp>
        <p:nvSpPr>
          <p:cNvPr id="138" name="Quote"/>
          <p:cNvSpPr/>
          <p:nvPr/>
        </p:nvSpPr>
        <p:spPr>
          <a:xfrm>
            <a:off x="5138928" y="3502152"/>
            <a:ext cx="1197864" cy="731520"/>
          </a:xfrm>
          <a:prstGeom prst="roundRect">
            <a:avLst>
              <a:gd name="adj" fmla="val 6250"/>
            </a:avLst>
          </a:prstGeom>
          <a:solidFill>
            <a:srgbClr val="2621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5212080" y="353872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6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「主人の和夫さんとはね、郡上おどりで知り合ったんですよ。…」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“I met my husband Kazuo…”</a:t>
            </a:r>
          </a:p>
        </p:txBody>
      </p:sp>
      <p:sp>
        <p:nvSpPr>
          <p:cNvPr id="140" name="Play"/>
          <p:cNvSpPr/>
          <p:nvPr/>
        </p:nvSpPr>
        <p:spPr>
          <a:xfrm>
            <a:off x="5212080" y="4014216"/>
            <a:ext cx="164592" cy="164592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PlayArrow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2197" y="4034333"/>
            <a:ext cx="123444" cy="123444"/>
          </a:xfrm>
          <a:prstGeom prst="rect">
            <a:avLst/>
          </a:prstGeom>
        </p:spPr>
      </p:pic>
      <p:sp>
        <p:nvSpPr>
          <p:cNvPr id="142" name="Progress"/>
          <p:cNvSpPr/>
          <p:nvPr/>
        </p:nvSpPr>
        <p:spPr>
          <a:xfrm>
            <a:off x="5431536" y="4091940"/>
            <a:ext cx="832104" cy="13716"/>
          </a:xfrm>
          <a:prstGeom prst="roundRect">
            <a:avLst>
              <a:gd name="adj" fmla="val 0"/>
            </a:avLst>
          </a:prstGeom>
          <a:solidFill>
            <a:srgbClr val="5A4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592824" y="1728216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4" name="Oval 143"/>
          <p:cNvSpPr/>
          <p:nvPr/>
        </p:nvSpPr>
        <p:spPr>
          <a:xfrm>
            <a:off x="6592824" y="215798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5" name="Oval 144"/>
          <p:cNvSpPr/>
          <p:nvPr/>
        </p:nvSpPr>
        <p:spPr>
          <a:xfrm>
            <a:off x="6592824" y="375818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46" name="Phone caption"/>
          <p:cNvSpPr txBox="1"/>
          <p:nvPr/>
        </p:nvSpPr>
        <p:spPr>
          <a:xfrm>
            <a:off x="6903720" y="1325880"/>
            <a:ext cx="188366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page</a:t>
            </a:r>
          </a:p>
        </p:txBody>
      </p:sp>
      <p:sp>
        <p:nvSpPr>
          <p:cNvPr id="147" name="Family note 1"/>
          <p:cNvSpPr txBox="1"/>
          <p:nvPr/>
        </p:nvSpPr>
        <p:spPr>
          <a:xfrm>
            <a:off x="6903720" y="1764792"/>
            <a:ext cx="188366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life story as a book, by time of life</a:t>
            </a:r>
          </a:p>
        </p:txBody>
      </p:sp>
      <p:sp>
        <p:nvSpPr>
          <p:cNvPr id="148" name="Family note 2"/>
          <p:cNvSpPr txBox="1"/>
          <p:nvPr/>
        </p:nvSpPr>
        <p:spPr>
          <a:xfrm>
            <a:off x="6903720" y="2194560"/>
            <a:ext cx="188366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family's questions, one tab away, each with the story it led to</a:t>
            </a:r>
          </a:p>
        </p:txBody>
      </p:sp>
      <p:sp>
        <p:nvSpPr>
          <p:cNvPr id="149" name="Family note 3"/>
          <p:cNvSpPr txBox="1"/>
          <p:nvPr/>
        </p:nvSpPr>
        <p:spPr>
          <a:xfrm>
            <a:off x="6903720" y="3794760"/>
            <a:ext cx="1883664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retelling with its quotes, in the words as said, and the voice that said them</a:t>
            </a:r>
          </a:p>
        </p:txBody>
      </p:sp>
      <p:sp>
        <p:nvSpPr>
          <p:cNvPr id="150" name="Status note"/>
          <p:cNvSpPr txBox="1"/>
          <p:nvPr/>
        </p:nvSpPr>
        <p:spPr>
          <a:xfrm>
            <a:off x="6903720" y="4361688"/>
            <a:ext cx="1883664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Both are live at kataribe.kaseovo.com, with this family page and a conversation to try in English.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Senior's screen"/>
          <p:cNvSpPr/>
          <p:nvPr/>
        </p:nvSpPr>
        <p:spPr>
          <a:xfrm>
            <a:off x="356616" y="1325880"/>
            <a:ext cx="1783080" cy="2148840"/>
          </a:xfrm>
          <a:prstGeom prst="roundRect">
            <a:avLst>
              <a:gd name="adj" fmla="val 512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66344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TabletAndroid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764" y="1508028"/>
            <a:ext cx="184343" cy="184343"/>
          </a:xfrm>
          <a:prstGeom prst="rect">
            <a:avLst/>
          </a:prstGeom>
        </p:spPr>
      </p:pic>
      <p:sp>
        <p:nvSpPr>
          <p:cNvPr id="115" name="Senior's screen text"/>
          <p:cNvSpPr txBox="1"/>
          <p:nvPr/>
        </p:nvSpPr>
        <p:spPr>
          <a:xfrm>
            <a:off x="868680" y="1435608"/>
            <a:ext cx="1179576" cy="1984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screen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web app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Mic in, voice out at 24 kHz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Records both voices on one timeline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Holds only a single-use token, with the prompt sealed in</a:t>
            </a:r>
          </a:p>
        </p:txBody>
      </p:sp>
      <p:sp>
        <p:nvSpPr>
          <p:cNvPr id="116" name="Family page"/>
          <p:cNvSpPr/>
          <p:nvPr/>
        </p:nvSpPr>
        <p:spPr>
          <a:xfrm>
            <a:off x="356616" y="3931920"/>
            <a:ext cx="1783080" cy="960120"/>
          </a:xfrm>
          <a:prstGeom prst="roundRect">
            <a:avLst>
              <a:gd name="adj" fmla="val 952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66344" y="404164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PhoneIphone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764" y="4114068"/>
            <a:ext cx="184343" cy="184343"/>
          </a:xfrm>
          <a:prstGeom prst="rect">
            <a:avLst/>
          </a:prstGeom>
        </p:spPr>
      </p:pic>
      <p:sp>
        <p:nvSpPr>
          <p:cNvPr id="119" name="Family page text"/>
          <p:cNvSpPr txBox="1"/>
          <p:nvPr/>
        </p:nvSpPr>
        <p:spPr>
          <a:xfrm>
            <a:off x="868680" y="4041648"/>
            <a:ext cx="1179576" cy="7955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only, in Japanese or English</a:t>
            </a:r>
          </a:p>
        </p:txBody>
      </p:sp>
      <p:sp>
        <p:nvSpPr>
          <p:cNvPr id="120" name="Cloud Run"/>
          <p:cNvSpPr/>
          <p:nvPr/>
        </p:nvSpPr>
        <p:spPr>
          <a:xfrm>
            <a:off x="2788920" y="187452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Clou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1938528"/>
            <a:ext cx="292608" cy="292608"/>
          </a:xfrm>
          <a:prstGeom prst="rect">
            <a:avLst/>
          </a:prstGeom>
        </p:spPr>
      </p:pic>
      <p:sp>
        <p:nvSpPr>
          <p:cNvPr id="122" name="Cloud Run title"/>
          <p:cNvSpPr txBox="1"/>
          <p:nvPr/>
        </p:nvSpPr>
        <p:spPr>
          <a:xfrm>
            <a:off x="3291840" y="192024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Run, Tokyo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kataribe.kaseovo.com · FastAPI and the web app</a:t>
            </a:r>
          </a:p>
        </p:txBody>
      </p:sp>
      <p:sp>
        <p:nvSpPr>
          <p:cNvPr id="123" name="Session start"/>
          <p:cNvSpPr/>
          <p:nvPr/>
        </p:nvSpPr>
        <p:spPr>
          <a:xfrm>
            <a:off x="2926080" y="237744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017520" y="251460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5" name="Session start text"/>
          <p:cNvSpPr txBox="1"/>
          <p:nvPr/>
        </p:nvSpPr>
        <p:spPr>
          <a:xfrm>
            <a:off x="3383280" y="2432304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Session start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story so far and family questions, sealed into a single-use Live token</a:t>
            </a:r>
          </a:p>
        </p:txBody>
      </p:sp>
      <p:sp>
        <p:nvSpPr>
          <p:cNvPr id="126" name="Recording upload"/>
          <p:cNvSpPr/>
          <p:nvPr/>
        </p:nvSpPr>
        <p:spPr>
          <a:xfrm>
            <a:off x="2926080" y="2999232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017520" y="3136392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8" name="Recording upload text"/>
          <p:cNvSpPr txBox="1"/>
          <p:nvPr/>
        </p:nvSpPr>
        <p:spPr>
          <a:xfrm>
            <a:off x="3383280" y="3054096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Recording upload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Stereo WAV in parts, joined in Cloud Storage</a:t>
            </a:r>
          </a:p>
        </p:txBody>
      </p:sp>
      <p:sp>
        <p:nvSpPr>
          <p:cNvPr id="129" name="After each conversation"/>
          <p:cNvSpPr/>
          <p:nvPr/>
        </p:nvSpPr>
        <p:spPr>
          <a:xfrm>
            <a:off x="2926080" y="3621024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7520" y="3758184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31" name="After each conversation text"/>
          <p:cNvSpPr txBox="1"/>
          <p:nvPr/>
        </p:nvSpPr>
        <p:spPr>
          <a:xfrm>
            <a:off x="3383280" y="3675888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After each conversation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Write → check → screen → plan</a:t>
            </a:r>
          </a:p>
        </p:txBody>
      </p:sp>
      <p:sp>
        <p:nvSpPr>
          <p:cNvPr id="132" name="Family API"/>
          <p:cNvSpPr/>
          <p:nvPr/>
        </p:nvSpPr>
        <p:spPr>
          <a:xfrm>
            <a:off x="2926080" y="4242816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017520" y="437997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34" name="Family API text"/>
          <p:cNvSpPr txBox="1"/>
          <p:nvPr/>
        </p:nvSpPr>
        <p:spPr>
          <a:xfrm>
            <a:off x="3383280" y="42976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only; one clip per quote; English beside it</a:t>
            </a:r>
          </a:p>
        </p:txBody>
      </p:sp>
      <p:sp>
        <p:nvSpPr>
          <p:cNvPr id="135" name="Gemini Live API"/>
          <p:cNvSpPr/>
          <p:nvPr/>
        </p:nvSpPr>
        <p:spPr>
          <a:xfrm>
            <a:off x="6583680" y="1325880"/>
            <a:ext cx="2203704" cy="777240"/>
          </a:xfrm>
          <a:prstGeom prst="roundRect">
            <a:avLst>
              <a:gd name="adj" fmla="val 11764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693408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7" name="Picture 136" descr="MdGraphicEq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5828" y="1508028"/>
            <a:ext cx="184343" cy="184343"/>
          </a:xfrm>
          <a:prstGeom prst="rect">
            <a:avLst/>
          </a:prstGeom>
        </p:spPr>
      </p:pic>
      <p:sp>
        <p:nvSpPr>
          <p:cNvPr id="138" name="Gemini Live API text"/>
          <p:cNvSpPr txBox="1"/>
          <p:nvPr/>
        </p:nvSpPr>
        <p:spPr>
          <a:xfrm>
            <a:off x="7095744" y="1435608"/>
            <a:ext cx="1600200" cy="6126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Live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gemini-3.8-live: native audio, built-in transcription</a:t>
            </a:r>
          </a:p>
        </p:txBody>
      </p:sp>
      <p:sp>
        <p:nvSpPr>
          <p:cNvPr id="139" name="Firestore"/>
          <p:cNvSpPr/>
          <p:nvPr/>
        </p:nvSpPr>
        <p:spPr>
          <a:xfrm>
            <a:off x="6583680" y="2377440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693408" y="248716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Storag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5828" y="2559588"/>
            <a:ext cx="184343" cy="184343"/>
          </a:xfrm>
          <a:prstGeom prst="rect">
            <a:avLst/>
          </a:prstGeom>
        </p:spPr>
      </p:pic>
      <p:sp>
        <p:nvSpPr>
          <p:cNvPr id="142" name="Firestore text"/>
          <p:cNvSpPr txBox="1"/>
          <p:nvPr/>
        </p:nvSpPr>
        <p:spPr>
          <a:xfrm>
            <a:off x="7095744" y="248716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Firestore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People, sessions, stories, plans</a:t>
            </a:r>
          </a:p>
        </p:txBody>
      </p:sp>
      <p:sp>
        <p:nvSpPr>
          <p:cNvPr id="143" name="Cloud Storage"/>
          <p:cNvSpPr/>
          <p:nvPr/>
        </p:nvSpPr>
        <p:spPr>
          <a:xfrm>
            <a:off x="6583680" y="2999232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693408" y="3108960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5" name="Picture 144" descr="MdFold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5828" y="3181380"/>
            <a:ext cx="184343" cy="184343"/>
          </a:xfrm>
          <a:prstGeom prst="rect">
            <a:avLst/>
          </a:prstGeom>
        </p:spPr>
      </p:pic>
      <p:sp>
        <p:nvSpPr>
          <p:cNvPr id="146" name="Cloud Storage text"/>
          <p:cNvSpPr txBox="1"/>
          <p:nvPr/>
        </p:nvSpPr>
        <p:spPr>
          <a:xfrm>
            <a:off x="7095744" y="310896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Storage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Recordings; a clip per quote</a:t>
            </a:r>
          </a:p>
        </p:txBody>
      </p:sp>
      <p:sp>
        <p:nvSpPr>
          <p:cNvPr id="147" name="Gemini 3.8 Flash"/>
          <p:cNvSpPr/>
          <p:nvPr/>
        </p:nvSpPr>
        <p:spPr>
          <a:xfrm>
            <a:off x="6583680" y="3621024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93408" y="3730752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9" name="Picture 148" descr="MdAutoAwesome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5828" y="3803172"/>
            <a:ext cx="184343" cy="184343"/>
          </a:xfrm>
          <a:prstGeom prst="rect">
            <a:avLst/>
          </a:prstGeom>
        </p:spPr>
      </p:pic>
      <p:sp>
        <p:nvSpPr>
          <p:cNvPr id="150" name="Gemini 3.8 Flash text"/>
          <p:cNvSpPr txBox="1"/>
          <p:nvPr/>
        </p:nvSpPr>
        <p:spPr>
          <a:xfrm>
            <a:off x="7095744" y="3730752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3.8 Flash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Writes, listens again, translates, plans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185416" y="1600200"/>
            <a:ext cx="4352544" cy="0"/>
          </a:xfrm>
          <a:prstGeom prst="line">
            <a:avLst/>
          </a:prstGeom>
          <a:ln w="25400">
            <a:solidFill>
              <a:srgbClr val="D98F4E"/>
            </a:solidFill>
            <a:headEnd type="triangle" w="med" len="med"/>
            <a:tailEnd type="triangle" w="med" len="med"/>
          </a:ln>
        </p:spPr>
      </p:cxnSp>
      <p:sp>
        <p:nvSpPr>
          <p:cNvPr id="152" name="The conversation"/>
          <p:cNvSpPr/>
          <p:nvPr/>
        </p:nvSpPr>
        <p:spPr>
          <a:xfrm>
            <a:off x="2926080" y="1353312"/>
            <a:ext cx="2926080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98F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017520" y="1463040"/>
            <a:ext cx="274320" cy="274320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4" name="The conversation text"/>
          <p:cNvSpPr txBox="1"/>
          <p:nvPr/>
        </p:nvSpPr>
        <p:spPr>
          <a:xfrm>
            <a:off x="3383280" y="1380744"/>
            <a:ext cx="2423160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conversation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Voice both ways, screen to Gemini, on the token from 1</a:t>
            </a:r>
          </a:p>
        </p:txBody>
      </p:sp>
      <p:cxnSp>
        <p:nvCxnSpPr>
          <p:cNvPr id="155" name="Connector 154"/>
          <p:cNvCxnSpPr/>
          <p:nvPr/>
        </p:nvCxnSpPr>
        <p:spPr>
          <a:xfrm>
            <a:off x="2185416" y="2651760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6" name="Connector 155"/>
          <p:cNvCxnSpPr/>
          <p:nvPr/>
        </p:nvCxnSpPr>
        <p:spPr>
          <a:xfrm>
            <a:off x="2185416" y="3273552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57" name="Connector 156"/>
          <p:cNvCxnSpPr/>
          <p:nvPr/>
        </p:nvCxnSpPr>
        <p:spPr>
          <a:xfrm>
            <a:off x="2185416" y="4517136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8" name="Connector 157"/>
          <p:cNvCxnSpPr/>
          <p:nvPr/>
        </p:nvCxnSpPr>
        <p:spPr>
          <a:xfrm>
            <a:off x="6035040" y="2651760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9" name="Connector 158"/>
          <p:cNvCxnSpPr/>
          <p:nvPr/>
        </p:nvCxnSpPr>
        <p:spPr>
          <a:xfrm>
            <a:off x="6035040" y="3273552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60" name="Connector 159"/>
          <p:cNvCxnSpPr/>
          <p:nvPr/>
        </p:nvCxnSpPr>
        <p:spPr>
          <a:xfrm>
            <a:off x="6035040" y="3895344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AI"/>
          <p:cNvSpPr/>
          <p:nvPr/>
        </p:nvSpPr>
        <p:spPr>
          <a:xfrm>
            <a:off x="356616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MdAutoAwesome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23" name="Google AI text"/>
          <p:cNvSpPr txBox="1"/>
          <p:nvPr/>
        </p:nvSpPr>
        <p:spPr>
          <a:xfrm>
            <a:off x="521208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AI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Live: real-time voice, native audio, built-in transcription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Flash: writes the stories, listens to each quote's clip, translates, plans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Google Gen AI SDK, Python and JavaScript; single-use tokens</a:t>
            </a:r>
          </a:p>
        </p:txBody>
      </p:sp>
      <p:sp>
        <p:nvSpPr>
          <p:cNvPr id="124" name="Google Cloud"/>
          <p:cNvSpPr/>
          <p:nvPr/>
        </p:nvSpPr>
        <p:spPr>
          <a:xfrm>
            <a:off x="2510028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6" name="Picture 125" descr="MdCloud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127" name="Google Cloud text"/>
          <p:cNvSpPr txBox="1"/>
          <p:nvPr/>
        </p:nvSpPr>
        <p:spPr>
          <a:xfrm>
            <a:off x="2674620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Cloud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Run in Tokyo, at kataribe.kaseovo.com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Firestore and Cloud Storage; Secret Manager for the keys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An uptime check, Error Reporting and a budget alert</a:t>
            </a:r>
          </a:p>
        </p:txBody>
      </p:sp>
      <p:sp>
        <p:nvSpPr>
          <p:cNvPr id="128" name="Application"/>
          <p:cNvSpPr/>
          <p:nvPr/>
        </p:nvSpPr>
        <p:spPr>
          <a:xfrm>
            <a:off x="4663440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29" descr="MdTabletAndroi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131" name="Application text"/>
          <p:cNvSpPr txBox="1"/>
          <p:nvPr/>
        </p:nvSpPr>
        <p:spPr>
          <a:xfrm>
            <a:off x="4828032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Application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19, Vite, TypeScript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Web Audio worklet: capture, and both voices on one recording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on Python 3.13, managed with uv</a:t>
            </a:r>
          </a:p>
        </p:txBody>
      </p:sp>
      <p:sp>
        <p:nvSpPr>
          <p:cNvPr id="132" name="Quality"/>
          <p:cNvSpPr/>
          <p:nvPr/>
        </p:nvSpPr>
        <p:spPr>
          <a:xfrm>
            <a:off x="6816852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35" name="Quality text"/>
          <p:cNvSpPr txBox="1"/>
          <p:nvPr/>
        </p:nvSpPr>
        <p:spPr>
          <a:xfrm>
            <a:off x="6981444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Quality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pytest and Playwright against the live API, with synthesized Japanese speech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personas, real audio both ways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make smoke: a judge's whole path, on the live service</a:t>
            </a:r>
          </a:p>
        </p:txBody>
      </p:sp>
      <p:sp>
        <p:nvSpPr>
          <p:cNvPr id="136" name="Principle"/>
          <p:cNvSpPr/>
          <p:nvPr/>
        </p:nvSpPr>
        <p:spPr>
          <a:xfrm>
            <a:off x="356616" y="4315968"/>
            <a:ext cx="8430768" cy="566928"/>
          </a:xfrm>
          <a:prstGeom prst="roundRect">
            <a:avLst>
              <a:gd name="adj" fmla="val 19354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rinciple text"/>
          <p:cNvSpPr txBox="1"/>
          <p:nvPr/>
        </p:nvSpPr>
        <p:spPr>
          <a:xfrm>
            <a:off x="585216" y="4352544"/>
            <a:ext cx="7973568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One rule across the stack  </a:t>
            </a:r>
            <a:r>
              <a:rPr lang="en-GB" sz="10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model never speaks for the senior. Gemini writes the stories; plain code checks every quote and every yes against the transcript, and Gemini hears each one again in the recording.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summary"/>
          <p:cNvSpPr/>
          <p:nvPr/>
        </p:nvSpPr>
        <p:spPr>
          <a:xfrm>
            <a:off x="356616" y="1325880"/>
            <a:ext cx="2743200" cy="3547872"/>
          </a:xfrm>
          <a:prstGeom prst="roundRect">
            <a:avLst>
              <a:gd name="adj" fmla="val 4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Cost summary text"/>
          <p:cNvSpPr txBox="1"/>
          <p:nvPr/>
        </p:nvSpPr>
        <p:spPr>
          <a:xfrm>
            <a:off x="612648" y="1554480"/>
            <a:ext cx="2286000" cy="3200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3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$0.13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per 10-minute conversation, in AI and cloud, at list prices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6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¥6,900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a year of daily conversations, per person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About 3% of one ¥220,000 self-history written by hand.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337560" y="1325880"/>
          <a:ext cx="5449824" cy="27797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1640"/>
                <a:gridCol w="2743200"/>
                <a:gridCol w="1014984"/>
              </a:tblGrid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Item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Basis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Per session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$0.005 a minute, for all 10 minutes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$0.050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out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$0.018 a minute, about 2.5 minutes spoken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$0.045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Flash, writing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15k tokens in, 3k out: write, screen, plan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$0.023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Flash, listening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3 minutes of quoted clips, heard again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$0.006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Recording storage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58 MB of WAV, at ≈ $0.023 per GB-month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&lt; $0.002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Cloud Run, Firestore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Scale to zero; free tiers at this scale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Total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/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≈ $0.13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Cost notes"/>
          <p:cNvSpPr txBox="1"/>
          <p:nvPr/>
        </p:nvSpPr>
        <p:spPr>
          <a:xfrm>
            <a:off x="3337560" y="4215384"/>
            <a:ext cx="5449824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Audio is billed for the whole time a session is open, silence included. Rates are Google's list prices as of 23 Sep 2026, kept in backend/costs.py; token counts are estimates, the listening at 32 audio tokens a second. Yen at ¥150 to the dollar. Judging: at most 30 visitor conversations a day, about $0.10 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st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280160"/>
            <a:ext cx="2621280" cy="2926080"/>
          </a:xfrm>
          <a:prstGeom prst="roundRect">
            <a:avLst>
              <a:gd name="adj" fmla="val 3488"/>
            </a:avLst>
          </a:prstGeom>
        </p:spPr>
      </p:pic>
      <p:sp>
        <p:nvSpPr>
          <p:cNvPr id="137" name="The start page caption"/>
          <p:cNvSpPr txBox="1"/>
          <p:nvPr/>
        </p:nvSpPr>
        <p:spPr>
          <a:xfrm>
            <a:off x="356616" y="4288536"/>
            <a:ext cx="2621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start page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What it is, who it's for, a family page from the demo, then a judge's own turn.</a:t>
            </a:r>
          </a:p>
        </p:txBody>
      </p:sp>
      <p:pic>
        <p:nvPicPr>
          <p:cNvPr id="138" name="Picture 137" descr="sto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1360" y="1280160"/>
            <a:ext cx="2621280" cy="2926080"/>
          </a:xfrm>
          <a:prstGeom prst="roundRect">
            <a:avLst>
              <a:gd name="adj" fmla="val 3488"/>
            </a:avLst>
          </a:prstGeom>
        </p:spPr>
      </p:pic>
      <p:sp>
        <p:nvSpPr>
          <p:cNvPr id="139" name="A story, and what it rests on caption"/>
          <p:cNvSpPr txBox="1"/>
          <p:nvPr/>
        </p:nvSpPr>
        <p:spPr>
          <a:xfrm>
            <a:off x="3261360" y="4288536"/>
            <a:ext cx="2621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 story, and what it rests on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retelling to read; every quote a press away, in Japanese with the English beneath.</a:t>
            </a:r>
          </a:p>
        </p:txBody>
      </p:sp>
      <p:pic>
        <p:nvPicPr>
          <p:cNvPr id="140" name="Picture 139" descr="questi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104" y="1280160"/>
            <a:ext cx="2621280" cy="2926080"/>
          </a:xfrm>
          <a:prstGeom prst="roundRect">
            <a:avLst>
              <a:gd name="adj" fmla="val 3488"/>
            </a:avLst>
          </a:prstGeom>
        </p:spPr>
      </p:pic>
      <p:sp>
        <p:nvSpPr>
          <p:cNvPr id="141" name="Questions from the family caption"/>
          <p:cNvSpPr txBox="1"/>
          <p:nvPr/>
        </p:nvSpPr>
        <p:spPr>
          <a:xfrm>
            <a:off x="6166104" y="4288536"/>
            <a:ext cx="262128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Questions from the family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 asked, and the story each question led to. A waiting one says so.</a:t>
            </a:r>
          </a:p>
        </p:txBody>
      </p:sp>
      <p:sp>
        <p:nvSpPr>
          <p:cNvPr id="142" name="Data note"/>
          <p:cNvSpPr txBox="1"/>
          <p:nvPr/>
        </p:nvSpPr>
        <p:spPr>
          <a:xfrm>
            <a:off x="4754880" y="786384"/>
            <a:ext cx="4032504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Live at kataribe.kaseovo.com, on a phone: the demo's family page, written from the video's conversations.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esult 36 / 36"/>
          <p:cNvSpPr/>
          <p:nvPr/>
        </p:nvSpPr>
        <p:spPr>
          <a:xfrm>
            <a:off x="356616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esult 36 / 36 text"/>
          <p:cNvSpPr txBox="1"/>
          <p:nvPr/>
        </p:nvSpPr>
        <p:spPr>
          <a:xfrm>
            <a:off x="539496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36 / 36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Consent, twelve cases: a yes shares; a no or a hesitation keeps it private; no reply is asked again</a:t>
            </a:r>
          </a:p>
        </p:txBody>
      </p:sp>
      <p:sp>
        <p:nvSpPr>
          <p:cNvPr id="146" name="Result 12 / 12"/>
          <p:cNvSpPr/>
          <p:nvPr/>
        </p:nvSpPr>
        <p:spPr>
          <a:xfrm>
            <a:off x="2510028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Result 12 / 12 text"/>
          <p:cNvSpPr txBox="1"/>
          <p:nvPr/>
        </p:nvSpPr>
        <p:spPr>
          <a:xfrm>
            <a:off x="2692908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12 / 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recording check: the same words confirmed, 18 for 十八 accepted, a changed place caught</a:t>
            </a:r>
          </a:p>
        </p:txBody>
      </p:sp>
      <p:sp>
        <p:nvSpPr>
          <p:cNvPr id="148" name="Result 3 / 3"/>
          <p:cNvSpPr/>
          <p:nvPr/>
        </p:nvSpPr>
        <p:spPr>
          <a:xfrm>
            <a:off x="4663440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Result 3 / 3 text"/>
          <p:cNvSpPr txBox="1"/>
          <p:nvPr/>
        </p:nvSpPr>
        <p:spPr>
          <a:xfrm>
            <a:off x="4846320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 / 3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judge's whole path on the live service, from the start page to their own family page</a:t>
            </a:r>
          </a:p>
        </p:txBody>
      </p:sp>
      <p:sp>
        <p:nvSpPr>
          <p:cNvPr id="150" name="Result 6 min"/>
          <p:cNvSpPr/>
          <p:nvPr/>
        </p:nvSpPr>
        <p:spPr>
          <a:xfrm>
            <a:off x="6816852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Result 6 min text"/>
          <p:cNvSpPr txBox="1"/>
          <p:nvPr/>
        </p:nvSpPr>
        <p:spPr>
          <a:xfrm>
            <a:off x="6999732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 min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browser session with no drop, 34 transcript entries</a:t>
            </a:r>
          </a:p>
        </p:txBody>
      </p:sp>
      <p:sp>
        <p:nvSpPr>
          <p:cNvPr id="152" name="Patience title"/>
          <p:cNvSpPr txBox="1"/>
          <p:nvPr/>
        </p:nvSpPr>
        <p:spPr>
          <a:xfrm>
            <a:off x="356616" y="28346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long it waits before replying</a:t>
            </a:r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356616" y="3154680"/>
          <a:ext cx="393192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325880"/>
                <a:gridCol w="1188720"/>
              </a:tblGrid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Patience setting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Pause in speech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Result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1.5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Cut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4.0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Patience note"/>
          <p:cNvSpPr txBox="1"/>
          <p:nvPr/>
        </p:nvSpPr>
        <p:spPr>
          <a:xfrm>
            <a:off x="356616" y="45902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Japanese: 5,000 ms, measured. English visitors: 4 s. The model's own: 800 ms.</a:t>
            </a:r>
          </a:p>
        </p:txBody>
      </p:sp>
      <p:sp>
        <p:nvSpPr>
          <p:cNvPr id="155" name="Method"/>
          <p:cNvSpPr txBox="1"/>
          <p:nvPr/>
        </p:nvSpPr>
        <p:spPr>
          <a:xfrm>
            <a:off x="4572000" y="2834640"/>
            <a:ext cx="4215384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is measured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Real models, three runs a case: speech streamed at the Live API in real time, replies graded by rules and by a model judging them against the prompt.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 press a long pause, a refused topic, a change of subject.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recording check caught a real slip on its own: 私は transcribed as 私を. The quote was held back.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Not yet measured: elderly voices and dialect. A native speaker's review of the Japanese is next.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Next, on the same screen"/>
          <p:cNvSpPr/>
          <p:nvPr/>
        </p:nvSpPr>
        <p:spPr>
          <a:xfrm>
            <a:off x="356616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" name="Picture 153" descr="MdSensors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55" name="Next, on the same screen text"/>
          <p:cNvSpPr txBox="1"/>
          <p:nvPr/>
        </p:nvSpPr>
        <p:spPr>
          <a:xfrm>
            <a:off x="521208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Next, on the same screen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notices the senior sitting nearby, so there is no button at all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Names it is unsure of kept in kana; the family fixes the spelling in one tap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message to the family when a new story lands</a:t>
            </a:r>
          </a:p>
        </p:txBody>
      </p:sp>
      <p:sp>
        <p:nvSpPr>
          <p:cNvPr id="156" name="New channels, the same brain"/>
          <p:cNvSpPr/>
          <p:nvPr/>
        </p:nvSpPr>
        <p:spPr>
          <a:xfrm>
            <a:off x="3233928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8" name="Picture 157" descr="MdPhoneInTalk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59" name="New channels, the same brain text"/>
          <p:cNvSpPr txBox="1"/>
          <p:nvPr/>
        </p:nvSpPr>
        <p:spPr>
          <a:xfrm>
            <a:off x="3398520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New channels, the same brain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Phone and landline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Smart speakers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Inside the companion robots Japanese families already buy</a:t>
            </a:r>
          </a:p>
        </p:txBody>
      </p:sp>
      <p:sp>
        <p:nvSpPr>
          <p:cNvPr id="160" name="Beyond the family"/>
          <p:cNvSpPr/>
          <p:nvPr/>
        </p:nvSpPr>
        <p:spPr>
          <a:xfrm>
            <a:off x="6111240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2" name="Picture 161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63" name="Beyond the family text"/>
          <p:cNvSpPr txBox="1"/>
          <p:nvPr/>
        </p:nvSpPr>
        <p:spPr>
          <a:xfrm>
            <a:off x="6275832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Beyond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teller chooses who else may read: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Testimony, the oldest sense of 語り部: the war, the bombings, the disasters, told by those who lived them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Municipalities as payers: Yokosuka City has trialled conversation AI for seniors since 2025</a:t>
            </a:r>
          </a:p>
        </p:txBody>
      </p:sp>
      <p:sp>
        <p:nvSpPr>
          <p:cNvPr id="164" name="Scale"/>
          <p:cNvSpPr/>
          <p:nvPr/>
        </p:nvSpPr>
        <p:spPr>
          <a:xfrm>
            <a:off x="356616" y="4023360"/>
            <a:ext cx="8430768" cy="850392"/>
          </a:xfrm>
          <a:prstGeom prst="roundRect">
            <a:avLst>
              <a:gd name="adj" fmla="val 12903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Scale text"/>
          <p:cNvSpPr txBox="1"/>
          <p:nvPr/>
        </p:nvSpPr>
        <p:spPr>
          <a:xfrm>
            <a:off x="585216" y="4114800"/>
            <a:ext cx="797356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scales  </a:t>
            </a:r>
            <a:r>
              <a:rPr lang="en-GB" sz="10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channel plugs into the same backend. Cloud Run scales to zero and out. Gemini moves to Vertex AI in a Japanese region, behind one adapter, when data residency matters.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5"/>
              </a:rPr>
              <a:t>github.com/kaseovo/kataribe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6"/>
              </a:rPr>
              <a:t>youtu.be/wg3SdraT2Oo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7"/>
              </a:rPr>
              <a:t>kataribe.kaseovo.com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qr-vide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" y="2606040"/>
            <a:ext cx="1097280" cy="1097280"/>
          </a:xfrm>
          <a:prstGeom prst="rect">
            <a:avLst/>
          </a:prstGeom>
        </p:spPr>
      </p:pic>
      <p:sp>
        <p:nvSpPr>
          <p:cNvPr id="161" name="Watch the demo note"/>
          <p:cNvSpPr txBox="1"/>
          <p:nvPr/>
        </p:nvSpPr>
        <p:spPr>
          <a:xfrm>
            <a:off x="1682496" y="2468880"/>
            <a:ext cx="146304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Watch the demo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3:48, in English: two conversations, the family page they made, and how to try it yourself.</a:t>
            </a:r>
          </a:p>
        </p:txBody>
      </p:sp>
      <p:pic>
        <p:nvPicPr>
          <p:cNvPr id="162" name="Picture 161" descr="qr-produc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82696" y="2606040"/>
            <a:ext cx="1097280" cy="1097280"/>
          </a:xfrm>
          <a:prstGeom prst="rect">
            <a:avLst/>
          </a:prstGeom>
        </p:spPr>
      </p:pic>
      <p:sp>
        <p:nvSpPr>
          <p:cNvPr id="163" name="Try it on your own life note"/>
          <p:cNvSpPr txBox="1"/>
          <p:nvPr/>
        </p:nvSpPr>
        <p:spPr>
          <a:xfrm>
            <a:off x="4517136" y="2468880"/>
            <a:ext cx="146304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Try it on your own life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family page from the demo, then a conversation of your own, in English. About three minutes.</a:t>
            </a:r>
          </a:p>
        </p:txBody>
      </p:sp>
      <p:pic>
        <p:nvPicPr>
          <p:cNvPr id="164" name="Picture 163" descr="qr-rep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17336" y="2606040"/>
            <a:ext cx="1097280" cy="1097280"/>
          </a:xfrm>
          <a:prstGeom prst="rect">
            <a:avLst/>
          </a:prstGeom>
        </p:spPr>
      </p:pic>
      <p:sp>
        <p:nvSpPr>
          <p:cNvPr id="165" name="The code, the tests, and the plan behind them note"/>
          <p:cNvSpPr txBox="1"/>
          <p:nvPr/>
        </p:nvSpPr>
        <p:spPr>
          <a:xfrm>
            <a:off x="7351776" y="2468880"/>
            <a:ext cx="146304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code, the tests, and the plan behind them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 source, under the MIT licence. Built in the open from the first commit on 22 Sep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Community benefit and business case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For them"/>
          <p:cNvSpPr/>
          <p:nvPr/>
        </p:nvSpPr>
        <p:spPr>
          <a:xfrm>
            <a:off x="356616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9" name="Picture 168" descr="MdElderl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70" name="For them text"/>
          <p:cNvSpPr txBox="1"/>
          <p:nvPr/>
        </p:nvSpPr>
        <p:spPr>
          <a:xfrm>
            <a:off x="521208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them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a day that are theirs, about their own life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Remembering out loud, with someone who waits for a name or a year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Theirs to give: nothing reaches the family until they say so</a:t>
            </a:r>
          </a:p>
        </p:txBody>
      </p:sp>
      <p:sp>
        <p:nvSpPr>
          <p:cNvPr id="171" name="For their family"/>
          <p:cNvSpPr/>
          <p:nvPr/>
        </p:nvSpPr>
        <p:spPr>
          <a:xfrm>
            <a:off x="3233928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3" name="Picture 172" descr="MdFamilyRestroo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74" name="For their family text"/>
          <p:cNvSpPr txBox="1"/>
          <p:nvPr/>
        </p:nvSpPr>
        <p:spPr>
          <a:xfrm>
            <a:off x="3398520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their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stories they never asked for: not for lack of love, for lack of a moment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 their own words, with their voice behind each quote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Something to talk about, and a question to send</a:t>
            </a:r>
          </a:p>
        </p:txBody>
      </p:sp>
      <p:sp>
        <p:nvSpPr>
          <p:cNvPr id="175" name="For their town, next"/>
          <p:cNvSpPr/>
          <p:nvPr/>
        </p:nvSpPr>
        <p:spPr>
          <a:xfrm>
            <a:off x="6111240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7" name="Picture 176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78" name="For their town, next text"/>
          <p:cNvSpPr txBox="1"/>
          <p:nvPr/>
        </p:nvSpPr>
        <p:spPr>
          <a:xfrm>
            <a:off x="6275832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their town, next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Whoever they choose: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of the 6.72 million who live alone have nobody nearby; no family is needed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What a town lived through, in the voices of those who lived it</a:t>
            </a:r>
          </a:p>
        </p:txBody>
      </p:sp>
      <p:sp>
        <p:nvSpPr>
          <p:cNvPr id="179" name="Who pays"/>
          <p:cNvSpPr/>
          <p:nvPr/>
        </p:nvSpPr>
        <p:spPr>
          <a:xfrm>
            <a:off x="356616" y="3840480"/>
            <a:ext cx="8430768" cy="1033272"/>
          </a:xfrm>
          <a:prstGeom prst="roundRect">
            <a:avLst>
              <a:gd name="adj" fmla="val 10619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85216" y="395020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pays</a:t>
            </a:r>
          </a:p>
        </p:txBody>
      </p:sp>
      <p:sp>
        <p:nvSpPr>
          <p:cNvPr id="181" name="Payer 1"/>
          <p:cNvSpPr txBox="1"/>
          <p:nvPr/>
        </p:nvSpPr>
        <p:spPr>
          <a:xfrm>
            <a:off x="1773936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Families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subscription, against a ¥220,000 one-off book</a:t>
            </a:r>
          </a:p>
        </p:txBody>
      </p:sp>
      <p:sp>
        <p:nvSpPr>
          <p:cNvPr id="182" name="Payer 2"/>
          <p:cNvSpPr txBox="1"/>
          <p:nvPr/>
        </p:nvSpPr>
        <p:spPr>
          <a:xfrm>
            <a:off x="4050792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Municipalities and care providers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Preventive care and reminiscence programmes</a:t>
            </a:r>
          </a:p>
        </p:txBody>
      </p:sp>
      <p:sp>
        <p:nvSpPr>
          <p:cNvPr id="183" name="Payer 3"/>
          <p:cNvSpPr txBox="1"/>
          <p:nvPr/>
        </p:nvSpPr>
        <p:spPr>
          <a:xfrm>
            <a:off x="6327648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Cost to serve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≈ ¥570 a month for a daily conversation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