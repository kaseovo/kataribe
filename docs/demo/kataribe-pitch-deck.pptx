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github.com/tpemeja/kataribe" TargetMode="External"/><Relationship Id="rId6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Kataribe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Tanguy Pemeja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Sustainability &amp; Social Impact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Name"/>
          <p:cNvSpPr txBox="1"/>
          <p:nvPr/>
        </p:nvSpPr>
        <p:spPr>
          <a:xfrm>
            <a:off x="356616" y="1325880"/>
            <a:ext cx="51206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kataribe </a:t>
            </a:r>
            <a:r>
              <a:rPr lang="en-GB" sz="2400" dirty="0">
                <a:solidFill>
                  <a:srgbClr val="A0561B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語り部</a:t>
            </a:r>
          </a:p>
        </p:txBody>
      </p:sp>
      <p:sp>
        <p:nvSpPr>
          <p:cNvPr id="73" name="One-liner"/>
          <p:cNvSpPr txBox="1"/>
          <p:nvPr/>
        </p:nvSpPr>
        <p:spPr>
          <a:xfrm>
            <a:off x="356616" y="1874520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202124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A voice AI that talks with an elderly person for a few minutes a day, and turns their memories into a life story their family can read and hear.</a:t>
            </a:r>
          </a:p>
        </p:txBody>
      </p:sp>
      <p:sp>
        <p:nvSpPr>
          <p:cNvPr id="74" name="The Problem"/>
          <p:cNvSpPr txBox="1"/>
          <p:nvPr/>
        </p:nvSpPr>
        <p:spPr>
          <a:xfrm>
            <a:off x="356616" y="274320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A0561B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THE PROBLEM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Many Japanese seniors spend their days alone, and their families never find the time or the courage to ask about their lives. The stories go unrecorded.</a:t>
            </a:r>
          </a:p>
        </p:txBody>
      </p:sp>
      <p:sp>
        <p:nvSpPr>
          <p:cNvPr id="75" name="The Idea"/>
          <p:cNvSpPr txBox="1"/>
          <p:nvPr/>
        </p:nvSpPr>
        <p:spPr>
          <a:xfrm>
            <a:off x="356616" y="3456432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A0561B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THE IDEA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kataribe is the traditional keeper of oral history. Ours listens, remembers what was said, and plans what to ask next, always in the person's own words.</a:t>
            </a:r>
          </a:p>
        </p:txBody>
      </p:sp>
      <p:sp>
        <p:nvSpPr>
          <p:cNvPr id="76" name="Who Benefits"/>
          <p:cNvSpPr txBox="1"/>
          <p:nvPr/>
        </p:nvSpPr>
        <p:spPr>
          <a:xfrm>
            <a:off x="356616" y="416966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50" dirty="0">
                <a:solidFill>
                  <a:srgbClr val="A0561B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WHO BENEFITS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The senior: being listened to, memory work, a story that lasts. The family: stories they never asked about, and a reason to call.</a:t>
            </a:r>
          </a:p>
        </p:txBody>
      </p:sp>
      <p:sp>
        <p:nvSpPr>
          <p:cNvPr id="77" name="Stat 6.72M"/>
          <p:cNvSpPr/>
          <p:nvPr/>
        </p:nvSpPr>
        <p:spPr>
          <a:xfrm>
            <a:off x="5715000" y="1325880"/>
            <a:ext cx="3072384" cy="1627632"/>
          </a:xfrm>
          <a:prstGeom prst="roundRect">
            <a:avLst>
              <a:gd name="adj" fmla="val 6741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Stat 6.72M text"/>
          <p:cNvSpPr txBox="1"/>
          <p:nvPr/>
        </p:nvSpPr>
        <p:spPr>
          <a:xfrm>
            <a:off x="5943600" y="1508760"/>
            <a:ext cx="2615184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32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6.72M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50" dirty="0">
                <a:solidFill>
                  <a:srgbClr val="F0EBE5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people aged 65 and over live alone in Japan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B5ABA1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2020 census · Cabinet Office, Annual Report on the Ageing Society</a:t>
            </a:r>
          </a:p>
        </p:txBody>
      </p:sp>
      <p:sp>
        <p:nvSpPr>
          <p:cNvPr id="79" name="Stat ¥220,000"/>
          <p:cNvSpPr/>
          <p:nvPr/>
        </p:nvSpPr>
        <p:spPr>
          <a:xfrm>
            <a:off x="5715000" y="3136392"/>
            <a:ext cx="3072384" cy="1627632"/>
          </a:xfrm>
          <a:prstGeom prst="roundRect">
            <a:avLst>
              <a:gd name="adj" fmla="val 6741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Stat ¥220,000 text"/>
          <p:cNvSpPr txBox="1"/>
          <p:nvPr/>
        </p:nvSpPr>
        <p:spPr>
          <a:xfrm>
            <a:off x="5943600" y="3319272"/>
            <a:ext cx="2615184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32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¥220,000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50" dirty="0">
                <a:solidFill>
                  <a:srgbClr val="F0EBE5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for one professionally written self-history (自分史), made once, by hand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B5ABA1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親の雑誌 (Kokoromi), price incl. tax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577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Positioning"/>
          <p:cNvSpPr txBox="1"/>
          <p:nvPr/>
        </p:nvSpPr>
        <p:spPr>
          <a:xfrm>
            <a:off x="356616" y="1261872"/>
            <a:ext cx="843076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A0561B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The senior leads. The AI plans what to ask. The family can join.</a:t>
            </a:r>
          </a:p>
        </p:txBody>
      </p:sp>
      <p:sp>
        <p:nvSpPr>
          <p:cNvPr id="81" name="Card 1"/>
          <p:cNvSpPr/>
          <p:nvPr/>
        </p:nvSpPr>
        <p:spPr>
          <a:xfrm>
            <a:off x="356616" y="1719072"/>
            <a:ext cx="2676144" cy="3154680"/>
          </a:xfrm>
          <a:prstGeom prst="roundRect">
            <a:avLst>
              <a:gd name="adj" fmla="val 41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Card 1 text"/>
          <p:cNvSpPr txBox="1"/>
          <p:nvPr/>
        </p:nvSpPr>
        <p:spPr>
          <a:xfrm>
            <a:off x="539496" y="1874520"/>
            <a:ext cx="2310384" cy="2880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How different is it from any of the other existing ideas?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Memoir AIs (Tell Mel, Storyworth, Remento) rewrite a parent's words into chapters, and the family chooses who receives them.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Companion AIs (茶の間 Cotomo) keep seniors company, but no life story comes out.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human-written self-history costs ¥220,000, and is made once.</a:t>
            </a:r>
          </a:p>
        </p:txBody>
      </p:sp>
      <p:sp>
        <p:nvSpPr>
          <p:cNvPr id="83" name="Card 2"/>
          <p:cNvSpPr/>
          <p:nvPr/>
        </p:nvSpPr>
        <p:spPr>
          <a:xfrm>
            <a:off x="3233928" y="1719072"/>
            <a:ext cx="2676144" cy="3154680"/>
          </a:xfrm>
          <a:prstGeom prst="roundRect">
            <a:avLst>
              <a:gd name="adj" fmla="val 41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Card 2 text"/>
          <p:cNvSpPr txBox="1"/>
          <p:nvPr/>
        </p:nvSpPr>
        <p:spPr>
          <a:xfrm>
            <a:off x="3416808" y="1874520"/>
            <a:ext cx="2310384" cy="2880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How will it be able to solve the problem?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few minutes of conversation a day in natural Japanese. Nothing to install, open or type.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Each talk becomes stories, people and places on a life timeline. The gaps plan the next talk.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Relatives read what she shared, hear her voice, and send questions she is asked next time.</a:t>
            </a:r>
          </a:p>
        </p:txBody>
      </p:sp>
      <p:sp>
        <p:nvSpPr>
          <p:cNvPr id="85" name="Card 3"/>
          <p:cNvSpPr/>
          <p:nvPr/>
        </p:nvSpPr>
        <p:spPr>
          <a:xfrm>
            <a:off x="6111240" y="1719072"/>
            <a:ext cx="2676144" cy="3154680"/>
          </a:xfrm>
          <a:prstGeom prst="roundRect">
            <a:avLst>
              <a:gd name="adj" fmla="val 4100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Card 3 text"/>
          <p:cNvSpPr txBox="1"/>
          <p:nvPr/>
        </p:nvSpPr>
        <p:spPr>
          <a:xfrm>
            <a:off x="6294120" y="1874520"/>
            <a:ext cx="2310384" cy="2880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USP of the proposed solution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She decides what is shared. Consent is kept as her own words, checked against the recording.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Faithful, not rewritten. Every quote is verified word for word and plays in her own voice.</a:t>
            </a:r>
          </a:p>
          <a:p>
            <a:pPr algn="l" marL="160655" indent="-160655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1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Built for Japanese: honorific register, names spelled from her profile, patience for long pauses.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Feature 1"/>
          <p:cNvSpPr/>
          <p:nvPr/>
        </p:nvSpPr>
        <p:spPr>
          <a:xfrm>
            <a:off x="356616" y="1325880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21208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MdRecordVoiceOver-D98F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" y="1583009"/>
            <a:ext cx="235549" cy="235549"/>
          </a:xfrm>
          <a:prstGeom prst="rect">
            <a:avLst/>
          </a:prstGeom>
        </p:spPr>
      </p:pic>
      <p:sp>
        <p:nvSpPr>
          <p:cNvPr id="91" name="Feature 1 text"/>
          <p:cNvSpPr txBox="1"/>
          <p:nvPr/>
        </p:nvSpPr>
        <p:spPr>
          <a:xfrm>
            <a:off x="521208" y="2039112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Talks in Japanese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Gemini Live, native audio. Waits through long pauses for thought: 5 s, not 0.8 s.</a:t>
            </a:r>
          </a:p>
        </p:txBody>
      </p:sp>
      <p:sp>
        <p:nvSpPr>
          <p:cNvPr id="92" name="Feature 2"/>
          <p:cNvSpPr/>
          <p:nvPr/>
        </p:nvSpPr>
        <p:spPr>
          <a:xfrm>
            <a:off x="2510028" y="1325880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674620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4" name="Picture 93" descr="MdHistory-D98F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7157" y="1583009"/>
            <a:ext cx="235549" cy="235549"/>
          </a:xfrm>
          <a:prstGeom prst="rect">
            <a:avLst/>
          </a:prstGeom>
        </p:spPr>
      </p:pic>
      <p:sp>
        <p:nvSpPr>
          <p:cNvPr id="95" name="Feature 2 text"/>
          <p:cNvSpPr txBox="1"/>
          <p:nvPr/>
        </p:nvSpPr>
        <p:spPr>
          <a:xfrm>
            <a:off x="2674620" y="2039112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Remembers last time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Opens by recalling last time, then asks what it planned to ask.</a:t>
            </a:r>
          </a:p>
        </p:txBody>
      </p:sp>
      <p:sp>
        <p:nvSpPr>
          <p:cNvPr id="96" name="Feature 3"/>
          <p:cNvSpPr/>
          <p:nvPr/>
        </p:nvSpPr>
        <p:spPr>
          <a:xfrm>
            <a:off x="4663440" y="1325880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828032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8" name="Picture 97" descr="MdAutoStories-D98F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0569" y="1583009"/>
            <a:ext cx="235549" cy="235549"/>
          </a:xfrm>
          <a:prstGeom prst="rect">
            <a:avLst/>
          </a:prstGeom>
        </p:spPr>
      </p:pic>
      <p:sp>
        <p:nvSpPr>
          <p:cNvPr id="99" name="Feature 3 text"/>
          <p:cNvSpPr txBox="1"/>
          <p:nvPr/>
        </p:nvSpPr>
        <p:spPr>
          <a:xfrm>
            <a:off x="4828032" y="2039112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Stories, not transcripts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Each talk becomes stories with people, places and a life stage.</a:t>
            </a:r>
          </a:p>
        </p:txBody>
      </p:sp>
      <p:sp>
        <p:nvSpPr>
          <p:cNvPr id="100" name="Feature 4"/>
          <p:cNvSpPr/>
          <p:nvPr/>
        </p:nvSpPr>
        <p:spPr>
          <a:xfrm>
            <a:off x="6816852" y="1325880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981444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2" name="Picture 101" descr="MdFactCheck-D98F4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3981" y="1583009"/>
            <a:ext cx="235549" cy="235549"/>
          </a:xfrm>
          <a:prstGeom prst="rect">
            <a:avLst/>
          </a:prstGeom>
        </p:spPr>
      </p:pic>
      <p:sp>
        <p:nvSpPr>
          <p:cNvPr id="103" name="Feature 4 text"/>
          <p:cNvSpPr txBox="1"/>
          <p:nvPr/>
        </p:nvSpPr>
        <p:spPr>
          <a:xfrm>
            <a:off x="6981444" y="2039112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Never invents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quote not found word for word in the transcript is dropped.</a:t>
            </a:r>
          </a:p>
        </p:txBody>
      </p:sp>
      <p:sp>
        <p:nvSpPr>
          <p:cNvPr id="104" name="Feature 5"/>
          <p:cNvSpPr/>
          <p:nvPr/>
        </p:nvSpPr>
        <p:spPr>
          <a:xfrm>
            <a:off x="356616" y="3172968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521208" y="3337560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6" name="Picture 105" descr="MdTimeline-D98F4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745" y="3430097"/>
            <a:ext cx="235549" cy="235549"/>
          </a:xfrm>
          <a:prstGeom prst="rect">
            <a:avLst/>
          </a:prstGeom>
        </p:spPr>
      </p:pic>
      <p:sp>
        <p:nvSpPr>
          <p:cNvPr id="107" name="Feature 5 text"/>
          <p:cNvSpPr txBox="1"/>
          <p:nvPr/>
        </p:nvSpPr>
        <p:spPr>
          <a:xfrm>
            <a:off x="521208" y="3886200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Plans from the gaps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Finds thin life stages and people never described, and plans the next three questions.</a:t>
            </a:r>
          </a:p>
        </p:txBody>
      </p:sp>
      <p:sp>
        <p:nvSpPr>
          <p:cNvPr id="108" name="Feature 6"/>
          <p:cNvSpPr/>
          <p:nvPr/>
        </p:nvSpPr>
        <p:spPr>
          <a:xfrm>
            <a:off x="2510028" y="3172968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674620" y="3337560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MdVerifiedUser-D98F4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7157" y="3430097"/>
            <a:ext cx="235549" cy="235549"/>
          </a:xfrm>
          <a:prstGeom prst="rect">
            <a:avLst/>
          </a:prstGeom>
        </p:spPr>
      </p:pic>
      <p:sp>
        <p:nvSpPr>
          <p:cNvPr id="111" name="Feature 6 text"/>
          <p:cNvSpPr txBox="1"/>
          <p:nvPr/>
        </p:nvSpPr>
        <p:spPr>
          <a:xfrm>
            <a:off x="2674620" y="3886200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Consent per story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Shared only if she said yes, in words found in the recording. Private by default.</a:t>
            </a:r>
          </a:p>
        </p:txBody>
      </p:sp>
      <p:sp>
        <p:nvSpPr>
          <p:cNvPr id="112" name="Feature 7"/>
          <p:cNvSpPr/>
          <p:nvPr/>
        </p:nvSpPr>
        <p:spPr>
          <a:xfrm>
            <a:off x="4663440" y="3172968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828032" y="3337560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4" name="Picture 113" descr="MdFamilyRestroom-D98F4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0569" y="3430097"/>
            <a:ext cx="235549" cy="235549"/>
          </a:xfrm>
          <a:prstGeom prst="rect">
            <a:avLst/>
          </a:prstGeom>
        </p:spPr>
      </p:pic>
      <p:sp>
        <p:nvSpPr>
          <p:cNvPr id="115" name="Feature 7 text"/>
          <p:cNvSpPr txBox="1"/>
          <p:nvPr/>
        </p:nvSpPr>
        <p:spPr>
          <a:xfrm>
            <a:off x="4828032" y="3886200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Family page, her voice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Chapters by life stage. Every quote plays as a clip of her own answer.</a:t>
            </a:r>
          </a:p>
        </p:txBody>
      </p:sp>
      <p:sp>
        <p:nvSpPr>
          <p:cNvPr id="116" name="Feature 8"/>
          <p:cNvSpPr/>
          <p:nvPr/>
        </p:nvSpPr>
        <p:spPr>
          <a:xfrm>
            <a:off x="6816852" y="3172968"/>
            <a:ext cx="1970532" cy="1664208"/>
          </a:xfrm>
          <a:prstGeom prst="roundRect">
            <a:avLst>
              <a:gd name="adj" fmla="val 659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981444" y="3337560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8" name="Picture 117" descr="MdForum-D98F4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981" y="3430097"/>
            <a:ext cx="235549" cy="235549"/>
          </a:xfrm>
          <a:prstGeom prst="rect">
            <a:avLst/>
          </a:prstGeom>
        </p:spPr>
      </p:pic>
      <p:sp>
        <p:nvSpPr>
          <p:cNvPr id="119" name="Feature 8 text"/>
          <p:cNvSpPr txBox="1"/>
          <p:nvPr/>
        </p:nvSpPr>
        <p:spPr>
          <a:xfrm>
            <a:off x="6981444" y="3886200"/>
            <a:ext cx="1677924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The family asks back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Relatives send questions and the AI says who is asking. Refused topics are never asked.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Step 1"/>
          <p:cNvSpPr/>
          <p:nvPr/>
        </p:nvSpPr>
        <p:spPr>
          <a:xfrm>
            <a:off x="356616" y="13258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84632" y="1453896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98" name="Step 1 text"/>
          <p:cNvSpPr txBox="1"/>
          <p:nvPr/>
        </p:nvSpPr>
        <p:spPr>
          <a:xfrm>
            <a:off x="868680" y="1435608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Talk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5–10 min in Japanese with Gemini Live. She leads, it follows.</a:t>
            </a:r>
          </a:p>
        </p:txBody>
      </p:sp>
      <p:sp>
        <p:nvSpPr>
          <p:cNvPr id="99" name="Step 2"/>
          <p:cNvSpPr/>
          <p:nvPr/>
        </p:nvSpPr>
        <p:spPr>
          <a:xfrm>
            <a:off x="3383280" y="13258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11296" y="1453896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01" name="Step 2 text"/>
          <p:cNvSpPr txBox="1"/>
          <p:nvPr/>
        </p:nvSpPr>
        <p:spPr>
          <a:xfrm>
            <a:off x="3895344" y="1435608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Store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stereo recording and both transcripts, per session.</a:t>
            </a:r>
          </a:p>
        </p:txBody>
      </p:sp>
      <p:sp>
        <p:nvSpPr>
          <p:cNvPr id="102" name="Step 3"/>
          <p:cNvSpPr/>
          <p:nvPr/>
        </p:nvSpPr>
        <p:spPr>
          <a:xfrm>
            <a:off x="6409944" y="132588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537960" y="1453896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04" name="Step 3 text"/>
          <p:cNvSpPr txBox="1"/>
          <p:nvPr/>
        </p:nvSpPr>
        <p:spPr>
          <a:xfrm>
            <a:off x="6922008" y="1435608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Extract and verify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Stories, people, places. Quotes and consent checked verbatim.</a:t>
            </a:r>
          </a:p>
        </p:txBody>
      </p:sp>
      <p:sp>
        <p:nvSpPr>
          <p:cNvPr id="105" name="Step 4"/>
          <p:cNvSpPr/>
          <p:nvPr/>
        </p:nvSpPr>
        <p:spPr>
          <a:xfrm>
            <a:off x="6409944" y="2542032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37960" y="2670048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07" name="Step 4 text"/>
          <p:cNvSpPr txBox="1"/>
          <p:nvPr/>
        </p:nvSpPr>
        <p:spPr>
          <a:xfrm>
            <a:off x="6922008" y="26517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Timeline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Stories placed on life stages: childhood, work, marriage…</a:t>
            </a:r>
          </a:p>
        </p:txBody>
      </p:sp>
      <p:sp>
        <p:nvSpPr>
          <p:cNvPr id="108" name="Step 5"/>
          <p:cNvSpPr/>
          <p:nvPr/>
        </p:nvSpPr>
        <p:spPr>
          <a:xfrm>
            <a:off x="3383280" y="2542032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511296" y="2670048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10" name="Step 5 text"/>
          <p:cNvSpPr txBox="1"/>
          <p:nvPr/>
        </p:nvSpPr>
        <p:spPr>
          <a:xfrm>
            <a:off x="3895344" y="26517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Find gaps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Thin life stages, people never described, stories cut short.</a:t>
            </a:r>
          </a:p>
        </p:txBody>
      </p:sp>
      <p:sp>
        <p:nvSpPr>
          <p:cNvPr id="111" name="Step 6"/>
          <p:cNvSpPr/>
          <p:nvPr/>
        </p:nvSpPr>
        <p:spPr>
          <a:xfrm>
            <a:off x="356616" y="2542032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" y="2670048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6</a:t>
            </a:r>
          </a:p>
        </p:txBody>
      </p:sp>
      <p:sp>
        <p:nvSpPr>
          <p:cNvPr id="113" name="Step 6 text"/>
          <p:cNvSpPr txBox="1"/>
          <p:nvPr/>
        </p:nvSpPr>
        <p:spPr>
          <a:xfrm>
            <a:off x="868680" y="26517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Plan the next talk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Story so far, three questions, and topics to avoid.</a:t>
            </a:r>
          </a:p>
        </p:txBody>
      </p:sp>
      <p:sp>
        <p:nvSpPr>
          <p:cNvPr id="114" name="Family reads"/>
          <p:cNvSpPr/>
          <p:nvPr/>
        </p:nvSpPr>
        <p:spPr>
          <a:xfrm>
            <a:off x="6409944" y="3758184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B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19672" y="3867912"/>
            <a:ext cx="310896" cy="310896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6" name="Picture 115" descr="MdFamilyRestroom-D98F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069" y="3936309"/>
            <a:ext cx="174102" cy="174102"/>
          </a:xfrm>
          <a:prstGeom prst="rect">
            <a:avLst/>
          </a:prstGeom>
        </p:spPr>
      </p:pic>
      <p:sp>
        <p:nvSpPr>
          <p:cNvPr id="117" name="Family reads text"/>
          <p:cNvSpPr txBox="1"/>
          <p:nvPr/>
        </p:nvSpPr>
        <p:spPr>
          <a:xfrm>
            <a:off x="6922008" y="386791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Family reads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Only stories she agreed to share, each quote in her voice.</a:t>
            </a:r>
          </a:p>
        </p:txBody>
      </p:sp>
      <p:sp>
        <p:nvSpPr>
          <p:cNvPr id="118" name="Family asks back"/>
          <p:cNvSpPr/>
          <p:nvPr/>
        </p:nvSpPr>
        <p:spPr>
          <a:xfrm>
            <a:off x="3383280" y="3758184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B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493008" y="3867912"/>
            <a:ext cx="310896" cy="310896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0" name="Picture 119" descr="MdForum-D98F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405" y="3936309"/>
            <a:ext cx="174102" cy="174102"/>
          </a:xfrm>
          <a:prstGeom prst="rect">
            <a:avLst/>
          </a:prstGeom>
        </p:spPr>
      </p:pic>
      <p:sp>
        <p:nvSpPr>
          <p:cNvPr id="121" name="Family asks back text"/>
          <p:cNvSpPr txBox="1"/>
          <p:nvPr/>
        </p:nvSpPr>
        <p:spPr>
          <a:xfrm>
            <a:off x="3895344" y="386791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Family asks back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relative writes a question and who they are: 孫のゆか.</a:t>
            </a:r>
          </a:p>
        </p:txBody>
      </p:sp>
      <p:sp>
        <p:nvSpPr>
          <p:cNvPr id="122" name="Screened"/>
          <p:cNvSpPr/>
          <p:nvPr/>
        </p:nvSpPr>
        <p:spPr>
          <a:xfrm>
            <a:off x="356616" y="3758184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FBEE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66344" y="3867912"/>
            <a:ext cx="310896" cy="310896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4" name="Picture 123" descr="MdVerifiedUser-D98F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741" y="3936309"/>
            <a:ext cx="174102" cy="174102"/>
          </a:xfrm>
          <a:prstGeom prst="rect">
            <a:avLst/>
          </a:prstGeom>
        </p:spPr>
      </p:pic>
      <p:sp>
        <p:nvSpPr>
          <p:cNvPr id="125" name="Screened text"/>
          <p:cNvSpPr txBox="1"/>
          <p:nvPr/>
        </p:nvSpPr>
        <p:spPr>
          <a:xfrm>
            <a:off x="868680" y="3867912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Screened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question touching a topic she refused is quietly held back.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2788920" y="1737360"/>
            <a:ext cx="539496" cy="0"/>
          </a:xfrm>
          <a:prstGeom prst="line">
            <a:avLst/>
          </a:prstGeom>
          <a:ln w="19050">
            <a:solidFill>
              <a:srgbClr val="9AA0A6"/>
            </a:solidFill>
            <a:tailEnd type="triangle" w="med" len="med"/>
          </a:ln>
        </p:spPr>
      </p:cxnSp>
      <p:cxnSp>
        <p:nvCxnSpPr>
          <p:cNvPr id="127" name="Connector 126"/>
          <p:cNvCxnSpPr/>
          <p:nvPr/>
        </p:nvCxnSpPr>
        <p:spPr>
          <a:xfrm>
            <a:off x="5815584" y="1737360"/>
            <a:ext cx="539496" cy="0"/>
          </a:xfrm>
          <a:prstGeom prst="line">
            <a:avLst/>
          </a:prstGeom>
          <a:ln w="19050">
            <a:solidFill>
              <a:srgbClr val="9AA0A6"/>
            </a:solidFill>
            <a:tailEnd type="triangle" w="med" len="med"/>
          </a:ln>
        </p:spPr>
      </p:cxnSp>
      <p:cxnSp>
        <p:nvCxnSpPr>
          <p:cNvPr id="128" name="Connector 127"/>
          <p:cNvCxnSpPr/>
          <p:nvPr/>
        </p:nvCxnSpPr>
        <p:spPr>
          <a:xfrm>
            <a:off x="7598664" y="2203704"/>
            <a:ext cx="0" cy="283464"/>
          </a:xfrm>
          <a:prstGeom prst="line">
            <a:avLst/>
          </a:prstGeom>
          <a:ln w="19050">
            <a:solidFill>
              <a:srgbClr val="9AA0A6"/>
            </a:solidFill>
            <a:tailEnd type="triangle" w="med" len="med"/>
          </a:ln>
        </p:spPr>
      </p:cxnSp>
      <p:cxnSp>
        <p:nvCxnSpPr>
          <p:cNvPr id="129" name="Connector 128"/>
          <p:cNvCxnSpPr/>
          <p:nvPr/>
        </p:nvCxnSpPr>
        <p:spPr>
          <a:xfrm flipH="1">
            <a:off x="5815584" y="2953512"/>
            <a:ext cx="539496" cy="0"/>
          </a:xfrm>
          <a:prstGeom prst="line">
            <a:avLst/>
          </a:prstGeom>
          <a:ln w="19050">
            <a:solidFill>
              <a:srgbClr val="9AA0A6"/>
            </a:solidFill>
            <a:tailEnd type="triangle" w="med" len="med"/>
          </a:ln>
        </p:spPr>
      </p:cxnSp>
      <p:cxnSp>
        <p:nvCxnSpPr>
          <p:cNvPr id="130" name="Connector 129"/>
          <p:cNvCxnSpPr/>
          <p:nvPr/>
        </p:nvCxnSpPr>
        <p:spPr>
          <a:xfrm flipH="1">
            <a:off x="2788920" y="2953512"/>
            <a:ext cx="539496" cy="0"/>
          </a:xfrm>
          <a:prstGeom prst="line">
            <a:avLst/>
          </a:prstGeom>
          <a:ln w="19050">
            <a:solidFill>
              <a:srgbClr val="9AA0A6"/>
            </a:solidFill>
            <a:tailEnd type="triangle" w="med" len="med"/>
          </a:ln>
        </p:spPr>
      </p:cxnSp>
      <p:cxnSp>
        <p:nvCxnSpPr>
          <p:cNvPr id="131" name="Connector 130"/>
          <p:cNvCxnSpPr/>
          <p:nvPr/>
        </p:nvCxnSpPr>
        <p:spPr>
          <a:xfrm flipV="1">
            <a:off x="1545336" y="2203704"/>
            <a:ext cx="0" cy="283464"/>
          </a:xfrm>
          <a:prstGeom prst="line">
            <a:avLst/>
          </a:prstGeom>
          <a:ln w="19050">
            <a:solidFill>
              <a:srgbClr val="9AA0A6"/>
            </a:solidFill>
            <a:tailEnd type="triangle" w="med" len="med"/>
          </a:ln>
        </p:spPr>
      </p:cxnSp>
      <p:cxnSp>
        <p:nvCxnSpPr>
          <p:cNvPr id="132" name="Connector 131"/>
          <p:cNvCxnSpPr/>
          <p:nvPr/>
        </p:nvCxnSpPr>
        <p:spPr>
          <a:xfrm>
            <a:off x="7598664" y="3419856"/>
            <a:ext cx="0" cy="283464"/>
          </a:xfrm>
          <a:prstGeom prst="line">
            <a:avLst/>
          </a:prstGeom>
          <a:ln w="19050">
            <a:solidFill>
              <a:srgbClr val="D98F4E"/>
            </a:solidFill>
            <a:tailEnd type="triangle" w="med" len="med"/>
          </a:ln>
        </p:spPr>
      </p:cxnSp>
      <p:cxnSp>
        <p:nvCxnSpPr>
          <p:cNvPr id="133" name="Connector 132"/>
          <p:cNvCxnSpPr/>
          <p:nvPr/>
        </p:nvCxnSpPr>
        <p:spPr>
          <a:xfrm flipH="1">
            <a:off x="5815584" y="4169664"/>
            <a:ext cx="539496" cy="0"/>
          </a:xfrm>
          <a:prstGeom prst="line">
            <a:avLst/>
          </a:prstGeom>
          <a:ln w="19050">
            <a:solidFill>
              <a:srgbClr val="D98F4E"/>
            </a:solidFill>
            <a:tailEnd type="triangle" w="med" len="med"/>
          </a:ln>
        </p:spPr>
      </p:cxnSp>
      <p:cxnSp>
        <p:nvCxnSpPr>
          <p:cNvPr id="134" name="Connector 133"/>
          <p:cNvCxnSpPr/>
          <p:nvPr/>
        </p:nvCxnSpPr>
        <p:spPr>
          <a:xfrm flipH="1">
            <a:off x="2788920" y="4169664"/>
            <a:ext cx="539496" cy="0"/>
          </a:xfrm>
          <a:prstGeom prst="line">
            <a:avLst/>
          </a:prstGeom>
          <a:ln w="19050">
            <a:solidFill>
              <a:srgbClr val="D98F4E"/>
            </a:solidFill>
            <a:tailEnd type="triangle" w="med" len="med"/>
          </a:ln>
        </p:spPr>
      </p:cxnSp>
      <p:cxnSp>
        <p:nvCxnSpPr>
          <p:cNvPr id="135" name="Connector 134"/>
          <p:cNvCxnSpPr/>
          <p:nvPr/>
        </p:nvCxnSpPr>
        <p:spPr>
          <a:xfrm flipV="1">
            <a:off x="1545336" y="3419856"/>
            <a:ext cx="0" cy="283464"/>
          </a:xfrm>
          <a:prstGeom prst="line">
            <a:avLst/>
          </a:prstGeom>
          <a:ln w="19050">
            <a:solidFill>
              <a:srgbClr val="D98F4E"/>
            </a:solidFill>
            <a:tailEnd type="triangle" w="med" len="med"/>
          </a:ln>
        </p:spPr>
      </p:cxnSp>
      <p:sp>
        <p:nvSpPr>
          <p:cNvPr id="136" name="Shared label"/>
          <p:cNvSpPr txBox="1"/>
          <p:nvPr/>
        </p:nvSpPr>
        <p:spPr>
          <a:xfrm>
            <a:off x="6117336" y="34381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A0561B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only what she shared</a:t>
            </a:r>
          </a:p>
        </p:txBody>
      </p:sp>
      <p:sp>
        <p:nvSpPr>
          <p:cNvPr id="137" name="Limit label"/>
          <p:cNvSpPr txBox="1"/>
          <p:nvPr/>
        </p:nvSpPr>
        <p:spPr>
          <a:xfrm>
            <a:off x="1655064" y="343814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A0561B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up to two a session</a:t>
            </a:r>
          </a:p>
        </p:txBody>
      </p:sp>
      <p:sp>
        <p:nvSpPr>
          <p:cNvPr id="138" name="Loop label"/>
          <p:cNvSpPr txBox="1"/>
          <p:nvPr/>
        </p:nvSpPr>
        <p:spPr>
          <a:xfrm>
            <a:off x="1655064" y="22219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next session</a:t>
            </a:r>
          </a:p>
        </p:txBody>
      </p:sp>
      <p:sp>
        <p:nvSpPr>
          <p:cNvPr id="139" name="Legend swatch"/>
          <p:cNvSpPr/>
          <p:nvPr/>
        </p:nvSpPr>
        <p:spPr>
          <a:xfrm>
            <a:off x="5989320" y="850392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Legend 1"/>
          <p:cNvSpPr txBox="1"/>
          <p:nvPr/>
        </p:nvSpPr>
        <p:spPr>
          <a:xfrm>
            <a:off x="6217920" y="8138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Every session</a:t>
            </a:r>
          </a:p>
        </p:txBody>
      </p:sp>
      <p:sp>
        <p:nvSpPr>
          <p:cNvPr id="141" name="Legend swatch 2"/>
          <p:cNvSpPr/>
          <p:nvPr/>
        </p:nvSpPr>
        <p:spPr>
          <a:xfrm>
            <a:off x="7635240" y="850392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FBEEE2"/>
          </a:solidFill>
          <a:ln w="9525">
            <a:solidFill>
              <a:srgbClr val="D98F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Legend 2"/>
          <p:cNvSpPr txBox="1"/>
          <p:nvPr/>
        </p:nvSpPr>
        <p:spPr>
          <a:xfrm>
            <a:off x="7863840" y="81381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The family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Tablet frame"/>
          <p:cNvSpPr/>
          <p:nvPr/>
        </p:nvSpPr>
        <p:spPr>
          <a:xfrm>
            <a:off x="356616" y="1325880"/>
            <a:ext cx="4343400" cy="25146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ablet screen"/>
          <p:cNvSpPr/>
          <p:nvPr/>
        </p:nvSpPr>
        <p:spPr>
          <a:xfrm>
            <a:off x="521208" y="1490472"/>
            <a:ext cx="4014216" cy="2185416"/>
          </a:xfrm>
          <a:prstGeom prst="roundRect">
            <a:avLst>
              <a:gd name="adj" fmla="val 2510"/>
            </a:avLst>
          </a:prstGeom>
          <a:solidFill>
            <a:srgbClr val="1210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8368" y="1581912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B5ABA1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語り部</a:t>
            </a:r>
          </a:p>
        </p:txBody>
      </p:sp>
      <p:sp>
        <p:nvSpPr>
          <p:cNvPr id="107" name="Greeting"/>
          <p:cNvSpPr txBox="1"/>
          <p:nvPr/>
        </p:nvSpPr>
        <p:spPr>
          <a:xfrm>
            <a:off x="521208" y="1792224"/>
            <a:ext cx="360273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F0EBE5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こんにちは、ハルさん</a:t>
            </a:r>
          </a:p>
        </p:txBody>
      </p:sp>
      <p:sp>
        <p:nvSpPr>
          <p:cNvPr id="108" name="Topic"/>
          <p:cNvSpPr/>
          <p:nvPr/>
        </p:nvSpPr>
        <p:spPr>
          <a:xfrm>
            <a:off x="996696" y="23317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6211D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D98F4E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今日のお話 · お父様の織物工場</a:t>
            </a:r>
          </a:p>
        </p:txBody>
      </p:sp>
      <p:sp>
        <p:nvSpPr>
          <p:cNvPr id="109" name="Level 0"/>
          <p:cNvSpPr/>
          <p:nvPr/>
        </p:nvSpPr>
        <p:spPr>
          <a:xfrm>
            <a:off x="1933956" y="2862072"/>
            <a:ext cx="64008" cy="91440"/>
          </a:xfrm>
          <a:prstGeom prst="roundRect">
            <a:avLst>
              <a:gd name="adj" fmla="val 50000"/>
            </a:avLst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Level 1"/>
          <p:cNvSpPr/>
          <p:nvPr/>
        </p:nvSpPr>
        <p:spPr>
          <a:xfrm>
            <a:off x="2052828" y="2807208"/>
            <a:ext cx="64008" cy="201168"/>
          </a:xfrm>
          <a:prstGeom prst="roundRect">
            <a:avLst>
              <a:gd name="adj" fmla="val 50000"/>
            </a:avLst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Level 2"/>
          <p:cNvSpPr/>
          <p:nvPr/>
        </p:nvSpPr>
        <p:spPr>
          <a:xfrm>
            <a:off x="2171700" y="2752344"/>
            <a:ext cx="64008" cy="310896"/>
          </a:xfrm>
          <a:prstGeom prst="roundRect">
            <a:avLst>
              <a:gd name="adj" fmla="val 50000"/>
            </a:avLst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Level 3"/>
          <p:cNvSpPr/>
          <p:nvPr/>
        </p:nvSpPr>
        <p:spPr>
          <a:xfrm>
            <a:off x="2290572" y="2816352"/>
            <a:ext cx="64008" cy="182880"/>
          </a:xfrm>
          <a:prstGeom prst="roundRect">
            <a:avLst>
              <a:gd name="adj" fmla="val 50000"/>
            </a:avLst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Level 4"/>
          <p:cNvSpPr/>
          <p:nvPr/>
        </p:nvSpPr>
        <p:spPr>
          <a:xfrm>
            <a:off x="2409444" y="2779776"/>
            <a:ext cx="64008" cy="256032"/>
          </a:xfrm>
          <a:prstGeom prst="roundRect">
            <a:avLst>
              <a:gd name="adj" fmla="val 50000"/>
            </a:avLst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Level 5"/>
          <p:cNvSpPr/>
          <p:nvPr/>
        </p:nvSpPr>
        <p:spPr>
          <a:xfrm>
            <a:off x="2528316" y="2843784"/>
            <a:ext cx="64008" cy="128016"/>
          </a:xfrm>
          <a:prstGeom prst="roundRect">
            <a:avLst>
              <a:gd name="adj" fmla="val 50000"/>
            </a:avLst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Level 6"/>
          <p:cNvSpPr/>
          <p:nvPr/>
        </p:nvSpPr>
        <p:spPr>
          <a:xfrm>
            <a:off x="2647188" y="2871216"/>
            <a:ext cx="64008" cy="73152"/>
          </a:xfrm>
          <a:prstGeom prst="roundRect">
            <a:avLst>
              <a:gd name="adj" fmla="val 50000"/>
            </a:avLst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Stop button"/>
          <p:cNvSpPr/>
          <p:nvPr/>
        </p:nvSpPr>
        <p:spPr>
          <a:xfrm>
            <a:off x="1636776" y="319125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A8503F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FFFF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おわる</a:t>
            </a:r>
          </a:p>
        </p:txBody>
      </p:sp>
      <p:sp>
        <p:nvSpPr>
          <p:cNvPr id="117" name="Oval 116"/>
          <p:cNvSpPr/>
          <p:nvPr/>
        </p:nvSpPr>
        <p:spPr>
          <a:xfrm>
            <a:off x="4206240" y="1901952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18" name="Oval 117"/>
          <p:cNvSpPr/>
          <p:nvPr/>
        </p:nvSpPr>
        <p:spPr>
          <a:xfrm>
            <a:off x="4206240" y="2377440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19" name="Oval 118"/>
          <p:cNvSpPr/>
          <p:nvPr/>
        </p:nvSpPr>
        <p:spPr>
          <a:xfrm>
            <a:off x="4206240" y="2798064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20" name="Oval 119"/>
          <p:cNvSpPr/>
          <p:nvPr/>
        </p:nvSpPr>
        <p:spPr>
          <a:xfrm>
            <a:off x="4206240" y="3255264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21" name="Tablet caption"/>
          <p:cNvSpPr txBox="1"/>
          <p:nvPr/>
        </p:nvSpPr>
        <p:spPr>
          <a:xfrm>
            <a:off x="356616" y="395020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Senior's tablet: nothing to open, tap or type</a:t>
            </a:r>
          </a:p>
        </p:txBody>
      </p:sp>
      <p:sp>
        <p:nvSpPr>
          <p:cNvPr id="122" name="Oval 121"/>
          <p:cNvSpPr/>
          <p:nvPr/>
        </p:nvSpPr>
        <p:spPr>
          <a:xfrm>
            <a:off x="356616" y="4315968"/>
            <a:ext cx="201168" cy="201168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23" name="Tablet note 1"/>
          <p:cNvSpPr txBox="1"/>
          <p:nvPr/>
        </p:nvSpPr>
        <p:spPr>
          <a:xfrm>
            <a:off x="630936" y="429768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Greets her by name</a:t>
            </a:r>
          </a:p>
        </p:txBody>
      </p:sp>
      <p:sp>
        <p:nvSpPr>
          <p:cNvPr id="124" name="Oval 123"/>
          <p:cNvSpPr/>
          <p:nvPr/>
        </p:nvSpPr>
        <p:spPr>
          <a:xfrm>
            <a:off x="2551176" y="4315968"/>
            <a:ext cx="201168" cy="201168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25" name="Tablet note 2"/>
          <p:cNvSpPr txBox="1"/>
          <p:nvPr/>
        </p:nvSpPr>
        <p:spPr>
          <a:xfrm>
            <a:off x="2825496" y="429768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One topic, from last time</a:t>
            </a:r>
          </a:p>
        </p:txBody>
      </p:sp>
      <p:sp>
        <p:nvSpPr>
          <p:cNvPr id="126" name="Oval 125"/>
          <p:cNvSpPr/>
          <p:nvPr/>
        </p:nvSpPr>
        <p:spPr>
          <a:xfrm>
            <a:off x="356616" y="4608576"/>
            <a:ext cx="201168" cy="201168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27" name="Tablet note 3"/>
          <p:cNvSpPr txBox="1"/>
          <p:nvPr/>
        </p:nvSpPr>
        <p:spPr>
          <a:xfrm>
            <a:off x="630936" y="459028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Listens, and waits</a:t>
            </a:r>
          </a:p>
        </p:txBody>
      </p:sp>
      <p:sp>
        <p:nvSpPr>
          <p:cNvPr id="128" name="Oval 127"/>
          <p:cNvSpPr/>
          <p:nvPr/>
        </p:nvSpPr>
        <p:spPr>
          <a:xfrm>
            <a:off x="2551176" y="4608576"/>
            <a:ext cx="201168" cy="201168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29" name="Tablet note 4"/>
          <p:cNvSpPr txBox="1"/>
          <p:nvPr/>
        </p:nvSpPr>
        <p:spPr>
          <a:xfrm>
            <a:off x="2825496" y="459028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One big button to stop</a:t>
            </a:r>
          </a:p>
        </p:txBody>
      </p:sp>
      <p:sp>
        <p:nvSpPr>
          <p:cNvPr id="130" name="Phone frame"/>
          <p:cNvSpPr/>
          <p:nvPr/>
        </p:nvSpPr>
        <p:spPr>
          <a:xfrm>
            <a:off x="4937760" y="1325880"/>
            <a:ext cx="1600200" cy="3291840"/>
          </a:xfrm>
          <a:prstGeom prst="roundRect">
            <a:avLst>
              <a:gd name="adj" fmla="val 12571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Phone screen"/>
          <p:cNvSpPr/>
          <p:nvPr/>
        </p:nvSpPr>
        <p:spPr>
          <a:xfrm>
            <a:off x="5029200" y="1490472"/>
            <a:ext cx="1417320" cy="2962656"/>
          </a:xfrm>
          <a:prstGeom prst="roundRect">
            <a:avLst>
              <a:gd name="adj" fmla="val 5161"/>
            </a:avLst>
          </a:prstGeom>
          <a:solidFill>
            <a:srgbClr val="1210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138928" y="1600200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F0EBE5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田中ハル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B5ABA1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1947年生まれ · 長野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138928" y="2148840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D98F4E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子供時代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138928" y="2313432"/>
            <a:ext cx="1234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F0EBE5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織物工場のこと</a:t>
            </a:r>
          </a:p>
        </p:txBody>
      </p:sp>
      <p:sp>
        <p:nvSpPr>
          <p:cNvPr id="135" name="Quote"/>
          <p:cNvSpPr/>
          <p:nvPr/>
        </p:nvSpPr>
        <p:spPr>
          <a:xfrm>
            <a:off x="5138928" y="2587752"/>
            <a:ext cx="1197864" cy="457200"/>
          </a:xfrm>
          <a:prstGeom prst="roundRect">
            <a:avLst>
              <a:gd name="adj" fmla="val 10000"/>
            </a:avLst>
          </a:prstGeom>
          <a:solidFill>
            <a:srgbClr val="2621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212080" y="2642616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F0EBE5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「父は村で小さな織物の工場をやっておりました。」</a:t>
            </a:r>
          </a:p>
        </p:txBody>
      </p:sp>
      <p:sp>
        <p:nvSpPr>
          <p:cNvPr id="137" name="Play"/>
          <p:cNvSpPr/>
          <p:nvPr/>
        </p:nvSpPr>
        <p:spPr>
          <a:xfrm>
            <a:off x="6080760" y="2706624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8" name="Picture 137" descr="MdPlayArrow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2734056"/>
            <a:ext cx="164592" cy="164592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5138928" y="320954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F0EBE5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Ask 田中ハル something</a:t>
            </a:r>
          </a:p>
        </p:txBody>
      </p:sp>
      <p:sp>
        <p:nvSpPr>
          <p:cNvPr id="140" name="Field 1"/>
          <p:cNvSpPr/>
          <p:nvPr/>
        </p:nvSpPr>
        <p:spPr>
          <a:xfrm>
            <a:off x="5138928" y="3429000"/>
            <a:ext cx="1197864" cy="237744"/>
          </a:xfrm>
          <a:prstGeom prst="roundRect">
            <a:avLst>
              <a:gd name="adj" fmla="val 15384"/>
            </a:avLst>
          </a:prstGeom>
          <a:solidFill>
            <a:srgbClr val="12100E"/>
          </a:solidFill>
          <a:ln w="9525">
            <a:solidFill>
              <a:srgbClr val="3A33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Field 2"/>
          <p:cNvSpPr/>
          <p:nvPr/>
        </p:nvSpPr>
        <p:spPr>
          <a:xfrm>
            <a:off x="5138928" y="3721608"/>
            <a:ext cx="1197864" cy="365760"/>
          </a:xfrm>
          <a:prstGeom prst="roundRect">
            <a:avLst>
              <a:gd name="adj" fmla="val 10000"/>
            </a:avLst>
          </a:prstGeom>
          <a:solidFill>
            <a:srgbClr val="12100E"/>
          </a:solidFill>
          <a:ln w="9525">
            <a:solidFill>
              <a:srgbClr val="3A33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Send"/>
          <p:cNvSpPr/>
          <p:nvPr/>
        </p:nvSpPr>
        <p:spPr>
          <a:xfrm>
            <a:off x="5138928" y="4160520"/>
            <a:ext cx="777240" cy="201168"/>
          </a:xfrm>
          <a:prstGeom prst="roundRect">
            <a:avLst>
              <a:gd name="adj" fmla="val 27272"/>
            </a:avLst>
          </a:prstGeom>
          <a:solidFill>
            <a:srgbClr val="D98F4E"/>
          </a:solidFill>
          <a:ln>
            <a:noFill/>
          </a:ln>
        </p:spPr>
        <p:txBody>
          <a:bodyPr rtlCol="0" anchor="ctr" wrap="square" lIns="9144" tIns="9144" rIns="9144" bIns="9144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Send question</a:t>
            </a:r>
          </a:p>
        </p:txBody>
      </p:sp>
      <p:sp>
        <p:nvSpPr>
          <p:cNvPr id="143" name="Oval 142"/>
          <p:cNvSpPr/>
          <p:nvPr/>
        </p:nvSpPr>
        <p:spPr>
          <a:xfrm>
            <a:off x="6592824" y="2130552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44" name="Oval 143"/>
          <p:cNvSpPr/>
          <p:nvPr/>
        </p:nvSpPr>
        <p:spPr>
          <a:xfrm>
            <a:off x="6592824" y="2706624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45" name="Oval 144"/>
          <p:cNvSpPr/>
          <p:nvPr/>
        </p:nvSpPr>
        <p:spPr>
          <a:xfrm>
            <a:off x="6592824" y="3200400"/>
            <a:ext cx="219456" cy="219456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46" name="Phone caption"/>
          <p:cNvSpPr txBox="1"/>
          <p:nvPr/>
        </p:nvSpPr>
        <p:spPr>
          <a:xfrm>
            <a:off x="6967728" y="1325880"/>
            <a:ext cx="181965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Family page</a:t>
            </a:r>
          </a:p>
        </p:txBody>
      </p:sp>
      <p:sp>
        <p:nvSpPr>
          <p:cNvPr id="147" name="Oval 146"/>
          <p:cNvSpPr/>
          <p:nvPr/>
        </p:nvSpPr>
        <p:spPr>
          <a:xfrm>
            <a:off x="6967728" y="1755648"/>
            <a:ext cx="201168" cy="201168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48" name="Family note 1"/>
          <p:cNvSpPr txBox="1"/>
          <p:nvPr/>
        </p:nvSpPr>
        <p:spPr>
          <a:xfrm>
            <a:off x="7242048" y="1737360"/>
            <a:ext cx="15453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Her stories as chapters, by life stage</a:t>
            </a:r>
          </a:p>
        </p:txBody>
      </p:sp>
      <p:sp>
        <p:nvSpPr>
          <p:cNvPr id="149" name="Oval 148"/>
          <p:cNvSpPr/>
          <p:nvPr/>
        </p:nvSpPr>
        <p:spPr>
          <a:xfrm>
            <a:off x="6967728" y="2322576"/>
            <a:ext cx="201168" cy="201168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50" name="Family note 2"/>
          <p:cNvSpPr txBox="1"/>
          <p:nvPr/>
        </p:nvSpPr>
        <p:spPr>
          <a:xfrm>
            <a:off x="7242048" y="2304288"/>
            <a:ext cx="15453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Her own words, and a clip of her answer to play</a:t>
            </a:r>
          </a:p>
        </p:txBody>
      </p:sp>
      <p:sp>
        <p:nvSpPr>
          <p:cNvPr id="151" name="Oval 150"/>
          <p:cNvSpPr/>
          <p:nvPr/>
        </p:nvSpPr>
        <p:spPr>
          <a:xfrm>
            <a:off x="6967728" y="2889504"/>
            <a:ext cx="201168" cy="201168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52" name="Family note 3"/>
          <p:cNvSpPr txBox="1"/>
          <p:nvPr/>
        </p:nvSpPr>
        <p:spPr>
          <a:xfrm>
            <a:off x="7242048" y="2871216"/>
            <a:ext cx="15453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Ask her something; she hears who is asking</a:t>
            </a:r>
          </a:p>
        </p:txBody>
      </p:sp>
      <p:sp>
        <p:nvSpPr>
          <p:cNvPr id="153" name="Status note"/>
          <p:cNvSpPr txBox="1"/>
          <p:nvPr/>
        </p:nvSpPr>
        <p:spPr>
          <a:xfrm>
            <a:off x="6967728" y="3657600"/>
            <a:ext cx="181965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The family page is built. The tablet screen is the next step: today the prototype starts from a Talk button.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Senior's tablet"/>
          <p:cNvSpPr/>
          <p:nvPr/>
        </p:nvSpPr>
        <p:spPr>
          <a:xfrm>
            <a:off x="356616" y="1325880"/>
            <a:ext cx="1783080" cy="2148840"/>
          </a:xfrm>
          <a:prstGeom prst="roundRect">
            <a:avLst>
              <a:gd name="adj" fmla="val 5128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6344" y="1435608"/>
            <a:ext cx="329184" cy="32918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4" name="Picture 113" descr="MdTabletAndroid-D98F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64" y="1508028"/>
            <a:ext cx="184343" cy="184343"/>
          </a:xfrm>
          <a:prstGeom prst="rect">
            <a:avLst/>
          </a:prstGeom>
        </p:spPr>
      </p:pic>
      <p:sp>
        <p:nvSpPr>
          <p:cNvPr id="115" name="Senior's tablet text"/>
          <p:cNvSpPr txBox="1"/>
          <p:nvPr/>
        </p:nvSpPr>
        <p:spPr>
          <a:xfrm>
            <a:off x="868680" y="1435608"/>
            <a:ext cx="1179576" cy="1984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Senior's tablet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React web app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Mic in at 16 kHz, voice out at 24 kHz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Records the talk in stereo: her voice left, the AI right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Holds only a short-lived token, which cannot change the prompt</a:t>
            </a:r>
          </a:p>
        </p:txBody>
      </p:sp>
      <p:sp>
        <p:nvSpPr>
          <p:cNvPr id="116" name="Family's phone"/>
          <p:cNvSpPr/>
          <p:nvPr/>
        </p:nvSpPr>
        <p:spPr>
          <a:xfrm>
            <a:off x="356616" y="3931920"/>
            <a:ext cx="1783080" cy="960120"/>
          </a:xfrm>
          <a:prstGeom prst="roundRect">
            <a:avLst>
              <a:gd name="adj" fmla="val 952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66344" y="4041648"/>
            <a:ext cx="329184" cy="32918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8" name="Picture 117" descr="MdPhoneIphone-D98F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764" y="4114068"/>
            <a:ext cx="184343" cy="184343"/>
          </a:xfrm>
          <a:prstGeom prst="rect">
            <a:avLst/>
          </a:prstGeom>
        </p:spPr>
      </p:pic>
      <p:sp>
        <p:nvSpPr>
          <p:cNvPr id="119" name="Family's phone text"/>
          <p:cNvSpPr txBox="1"/>
          <p:nvPr/>
        </p:nvSpPr>
        <p:spPr>
          <a:xfrm>
            <a:off x="868680" y="4041648"/>
            <a:ext cx="1179576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Family's phone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The family page: shared stories, her voice</a:t>
            </a:r>
          </a:p>
        </p:txBody>
      </p:sp>
      <p:sp>
        <p:nvSpPr>
          <p:cNvPr id="120" name="Cloud Run"/>
          <p:cNvSpPr/>
          <p:nvPr/>
        </p:nvSpPr>
        <p:spPr>
          <a:xfrm>
            <a:off x="2788920" y="187452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1" name="Picture 120" descr="MdCloud-D98F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1938528"/>
            <a:ext cx="292608" cy="292608"/>
          </a:xfrm>
          <a:prstGeom prst="rect">
            <a:avLst/>
          </a:prstGeom>
        </p:spPr>
      </p:pic>
      <p:sp>
        <p:nvSpPr>
          <p:cNvPr id="122" name="Cloud Run title"/>
          <p:cNvSpPr txBox="1"/>
          <p:nvPr/>
        </p:nvSpPr>
        <p:spPr>
          <a:xfrm>
            <a:off x="3291840" y="192024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Cloud Run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FastAPI and the web app, in one container</a:t>
            </a:r>
          </a:p>
        </p:txBody>
      </p:sp>
      <p:sp>
        <p:nvSpPr>
          <p:cNvPr id="123" name="Session start"/>
          <p:cNvSpPr/>
          <p:nvPr/>
        </p:nvSpPr>
        <p:spPr>
          <a:xfrm>
            <a:off x="2926080" y="237744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017520" y="2514600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1</a:t>
            </a:r>
          </a:p>
        </p:txBody>
      </p:sp>
      <p:sp>
        <p:nvSpPr>
          <p:cNvPr id="125" name="Session start text"/>
          <p:cNvSpPr txBox="1"/>
          <p:nvPr/>
        </p:nvSpPr>
        <p:spPr>
          <a:xfrm>
            <a:off x="3383280" y="2432304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Session start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Her story so far and family questions, locked into a short-lived Live token</a:t>
            </a:r>
          </a:p>
        </p:txBody>
      </p:sp>
      <p:sp>
        <p:nvSpPr>
          <p:cNvPr id="126" name="Recording upload"/>
          <p:cNvSpPr/>
          <p:nvPr/>
        </p:nvSpPr>
        <p:spPr>
          <a:xfrm>
            <a:off x="2926080" y="2999232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017520" y="3136392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3</a:t>
            </a:r>
          </a:p>
        </p:txBody>
      </p:sp>
      <p:sp>
        <p:nvSpPr>
          <p:cNvPr id="128" name="Recording upload text"/>
          <p:cNvSpPr txBox="1"/>
          <p:nvPr/>
        </p:nvSpPr>
        <p:spPr>
          <a:xfrm>
            <a:off x="3383280" y="3054096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Recording upload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Stereo WAV in parts, joined in Cloud Storage</a:t>
            </a:r>
          </a:p>
        </p:txBody>
      </p:sp>
      <p:sp>
        <p:nvSpPr>
          <p:cNvPr id="129" name="Processing"/>
          <p:cNvSpPr/>
          <p:nvPr/>
        </p:nvSpPr>
        <p:spPr>
          <a:xfrm>
            <a:off x="2926080" y="3621024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017520" y="3758184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4</a:t>
            </a:r>
          </a:p>
        </p:txBody>
      </p:sp>
      <p:sp>
        <p:nvSpPr>
          <p:cNvPr id="131" name="Processing text"/>
          <p:cNvSpPr txBox="1"/>
          <p:nvPr/>
        </p:nvSpPr>
        <p:spPr>
          <a:xfrm>
            <a:off x="3383280" y="367588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Processing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Extract → verify → screen → plan, after every session</a:t>
            </a:r>
          </a:p>
        </p:txBody>
      </p:sp>
      <p:sp>
        <p:nvSpPr>
          <p:cNvPr id="132" name="Family API"/>
          <p:cNvSpPr/>
          <p:nvPr/>
        </p:nvSpPr>
        <p:spPr>
          <a:xfrm>
            <a:off x="2926080" y="4242816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017520" y="4379976"/>
            <a:ext cx="274320" cy="274320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5</a:t>
            </a:r>
          </a:p>
        </p:txBody>
      </p:sp>
      <p:sp>
        <p:nvSpPr>
          <p:cNvPr id="134" name="Family API text"/>
          <p:cNvSpPr txBox="1"/>
          <p:nvPr/>
        </p:nvSpPr>
        <p:spPr>
          <a:xfrm>
            <a:off x="3383280" y="42976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Family API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Shared stories only; clips cut from her own channel</a:t>
            </a:r>
          </a:p>
        </p:txBody>
      </p:sp>
      <p:sp>
        <p:nvSpPr>
          <p:cNvPr id="135" name="Gemini Live API"/>
          <p:cNvSpPr/>
          <p:nvPr/>
        </p:nvSpPr>
        <p:spPr>
          <a:xfrm>
            <a:off x="6583680" y="1325880"/>
            <a:ext cx="2203704" cy="777240"/>
          </a:xfrm>
          <a:prstGeom prst="roundRect">
            <a:avLst>
              <a:gd name="adj" fmla="val 11764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693408" y="1435608"/>
            <a:ext cx="329184" cy="32918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7" name="Picture 136" descr="MdGraphicEq-D98F4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5828" y="1508028"/>
            <a:ext cx="184343" cy="184343"/>
          </a:xfrm>
          <a:prstGeom prst="rect">
            <a:avLst/>
          </a:prstGeom>
        </p:spPr>
      </p:pic>
      <p:sp>
        <p:nvSpPr>
          <p:cNvPr id="138" name="Gemini Live API text"/>
          <p:cNvSpPr txBox="1"/>
          <p:nvPr/>
        </p:nvSpPr>
        <p:spPr>
          <a:xfrm>
            <a:off x="7095744" y="1435608"/>
            <a:ext cx="1600200" cy="6126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Gemini Live API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gemini-3.8-live: native audio, built-in transcription</a:t>
            </a:r>
          </a:p>
        </p:txBody>
      </p:sp>
      <p:sp>
        <p:nvSpPr>
          <p:cNvPr id="139" name="Firestore"/>
          <p:cNvSpPr/>
          <p:nvPr/>
        </p:nvSpPr>
        <p:spPr>
          <a:xfrm>
            <a:off x="6583680" y="2377440"/>
            <a:ext cx="2203704" cy="548640"/>
          </a:xfrm>
          <a:prstGeom prst="roundRect">
            <a:avLst>
              <a:gd name="adj" fmla="val 16666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693408" y="2487168"/>
            <a:ext cx="329184" cy="32918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1" name="Picture 140" descr="MdStorage-D98F4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5828" y="2559588"/>
            <a:ext cx="184343" cy="184343"/>
          </a:xfrm>
          <a:prstGeom prst="rect">
            <a:avLst/>
          </a:prstGeom>
        </p:spPr>
      </p:pic>
      <p:sp>
        <p:nvSpPr>
          <p:cNvPr id="142" name="Firestore text"/>
          <p:cNvSpPr txBox="1"/>
          <p:nvPr/>
        </p:nvSpPr>
        <p:spPr>
          <a:xfrm>
            <a:off x="7095744" y="2487168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Firestore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People, sessions, stories, plans</a:t>
            </a:r>
          </a:p>
        </p:txBody>
      </p:sp>
      <p:sp>
        <p:nvSpPr>
          <p:cNvPr id="143" name="Cloud Storage"/>
          <p:cNvSpPr/>
          <p:nvPr/>
        </p:nvSpPr>
        <p:spPr>
          <a:xfrm>
            <a:off x="6583680" y="2999232"/>
            <a:ext cx="2203704" cy="548640"/>
          </a:xfrm>
          <a:prstGeom prst="roundRect">
            <a:avLst>
              <a:gd name="adj" fmla="val 16666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693408" y="3108960"/>
            <a:ext cx="329184" cy="32918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5" name="Picture 144" descr="MdFolder-D98F4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828" y="3181380"/>
            <a:ext cx="184343" cy="184343"/>
          </a:xfrm>
          <a:prstGeom prst="rect">
            <a:avLst/>
          </a:prstGeom>
        </p:spPr>
      </p:pic>
      <p:sp>
        <p:nvSpPr>
          <p:cNvPr id="146" name="Cloud Storage text"/>
          <p:cNvSpPr txBox="1"/>
          <p:nvPr/>
        </p:nvSpPr>
        <p:spPr>
          <a:xfrm>
            <a:off x="7095744" y="3108960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Cloud Storage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Recordings, then clips</a:t>
            </a:r>
          </a:p>
        </p:txBody>
      </p:sp>
      <p:sp>
        <p:nvSpPr>
          <p:cNvPr id="147" name="Gemini 3.8 Flash"/>
          <p:cNvSpPr/>
          <p:nvPr/>
        </p:nvSpPr>
        <p:spPr>
          <a:xfrm>
            <a:off x="6583680" y="3621024"/>
            <a:ext cx="2203704" cy="548640"/>
          </a:xfrm>
          <a:prstGeom prst="roundRect">
            <a:avLst>
              <a:gd name="adj" fmla="val 16666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693408" y="3730752"/>
            <a:ext cx="329184" cy="32918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9" name="Picture 148" descr="MdAutoAwesome-D98F4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5828" y="3803172"/>
            <a:ext cx="184343" cy="184343"/>
          </a:xfrm>
          <a:prstGeom prst="rect">
            <a:avLst/>
          </a:prstGeom>
        </p:spPr>
      </p:pic>
      <p:sp>
        <p:nvSpPr>
          <p:cNvPr id="150" name="Gemini 3.8 Flash text"/>
          <p:cNvSpPr txBox="1"/>
          <p:nvPr/>
        </p:nvSpPr>
        <p:spPr>
          <a:xfrm>
            <a:off x="7095744" y="373075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Gemini 3.8 Flash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Extraction, screening, planning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2185416" y="1645920"/>
            <a:ext cx="4352544" cy="0"/>
          </a:xfrm>
          <a:prstGeom prst="line">
            <a:avLst/>
          </a:prstGeom>
          <a:ln w="25400">
            <a:solidFill>
              <a:srgbClr val="D98F4E"/>
            </a:solidFill>
            <a:headEnd type="triangle" w="med" len="med"/>
            <a:tailEnd type="triangle" w="med" len="med"/>
          </a:ln>
        </p:spPr>
      </p:cxnSp>
      <p:sp>
        <p:nvSpPr>
          <p:cNvPr id="152" name="Oval 151"/>
          <p:cNvSpPr/>
          <p:nvPr/>
        </p:nvSpPr>
        <p:spPr>
          <a:xfrm>
            <a:off x="4206240" y="1508760"/>
            <a:ext cx="274320" cy="274320"/>
          </a:xfrm>
          <a:prstGeom prst="ellipse">
            <a:avLst/>
          </a:prstGeom>
          <a:solidFill>
            <a:srgbClr val="D98F4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1F1F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2</a:t>
            </a:r>
          </a:p>
        </p:txBody>
      </p:sp>
      <p:sp>
        <p:nvSpPr>
          <p:cNvPr id="153" name="Voice label"/>
          <p:cNvSpPr txBox="1"/>
          <p:nvPr/>
        </p:nvSpPr>
        <p:spPr>
          <a:xfrm>
            <a:off x="4553712" y="1344168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A0561B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Voice, both ways, with that token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2185416" y="2651760"/>
            <a:ext cx="557784" cy="0"/>
          </a:xfrm>
          <a:prstGeom prst="line">
            <a:avLst/>
          </a:prstGeom>
          <a:ln w="19050">
            <a:solidFill>
              <a:srgbClr val="9AA0A6"/>
            </a:solidFill>
            <a:headEnd type="triangle" w="med" len="med"/>
            <a:tailEnd type="triangle" w="med" len="med"/>
          </a:ln>
        </p:spPr>
      </p:cxnSp>
      <p:cxnSp>
        <p:nvCxnSpPr>
          <p:cNvPr id="155" name="Connector 154"/>
          <p:cNvCxnSpPr/>
          <p:nvPr/>
        </p:nvCxnSpPr>
        <p:spPr>
          <a:xfrm>
            <a:off x="2185416" y="3273552"/>
            <a:ext cx="557784" cy="0"/>
          </a:xfrm>
          <a:prstGeom prst="line">
            <a:avLst/>
          </a:prstGeom>
          <a:ln w="19050">
            <a:solidFill>
              <a:srgbClr val="9AA0A6"/>
            </a:solidFill>
            <a:tailEnd type="triangle" w="med" len="med"/>
          </a:ln>
        </p:spPr>
      </p:cxnSp>
      <p:cxnSp>
        <p:nvCxnSpPr>
          <p:cNvPr id="156" name="Connector 155"/>
          <p:cNvCxnSpPr/>
          <p:nvPr/>
        </p:nvCxnSpPr>
        <p:spPr>
          <a:xfrm>
            <a:off x="2185416" y="4517136"/>
            <a:ext cx="557784" cy="0"/>
          </a:xfrm>
          <a:prstGeom prst="line">
            <a:avLst/>
          </a:prstGeom>
          <a:ln w="19050">
            <a:solidFill>
              <a:srgbClr val="9AA0A6"/>
            </a:solidFill>
            <a:headEnd type="triangle" w="med" len="med"/>
            <a:tailEnd type="triangle" w="med" len="med"/>
          </a:ln>
        </p:spPr>
      </p:cxnSp>
      <p:cxnSp>
        <p:nvCxnSpPr>
          <p:cNvPr id="157" name="Connector 156"/>
          <p:cNvCxnSpPr/>
          <p:nvPr/>
        </p:nvCxnSpPr>
        <p:spPr>
          <a:xfrm>
            <a:off x="6035040" y="2651760"/>
            <a:ext cx="502920" cy="0"/>
          </a:xfrm>
          <a:prstGeom prst="line">
            <a:avLst/>
          </a:prstGeom>
          <a:ln w="19050">
            <a:solidFill>
              <a:srgbClr val="9AA0A6"/>
            </a:solidFill>
            <a:headEnd type="triangle" w="med" len="med"/>
            <a:tailEnd type="triangle" w="med" len="med"/>
          </a:ln>
        </p:spPr>
      </p:cxnSp>
      <p:cxnSp>
        <p:nvCxnSpPr>
          <p:cNvPr id="158" name="Connector 157"/>
          <p:cNvCxnSpPr/>
          <p:nvPr/>
        </p:nvCxnSpPr>
        <p:spPr>
          <a:xfrm>
            <a:off x="6035040" y="3273552"/>
            <a:ext cx="502920" cy="0"/>
          </a:xfrm>
          <a:prstGeom prst="line">
            <a:avLst/>
          </a:prstGeom>
          <a:ln w="19050">
            <a:solidFill>
              <a:srgbClr val="9AA0A6"/>
            </a:solidFill>
            <a:headEnd type="triangle" w="med" len="med"/>
            <a:tailEnd type="triangle" w="med" len="med"/>
          </a:ln>
        </p:spPr>
      </p:cxnSp>
      <p:cxnSp>
        <p:nvCxnSpPr>
          <p:cNvPr id="159" name="Connector 158"/>
          <p:cNvCxnSpPr/>
          <p:nvPr/>
        </p:nvCxnSpPr>
        <p:spPr>
          <a:xfrm>
            <a:off x="6035040" y="3895344"/>
            <a:ext cx="502920" cy="0"/>
          </a:xfrm>
          <a:prstGeom prst="line">
            <a:avLst/>
          </a:prstGeom>
          <a:ln w="19050">
            <a:solidFill>
              <a:srgbClr val="9AA0A6"/>
            </a:solidFill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Google AI"/>
          <p:cNvSpPr/>
          <p:nvPr/>
        </p:nvSpPr>
        <p:spPr>
          <a:xfrm>
            <a:off x="356616" y="1325880"/>
            <a:ext cx="1970532" cy="2834640"/>
          </a:xfrm>
          <a:prstGeom prst="roundRect">
            <a:avLst>
              <a:gd name="adj" fmla="val 5568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21208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2" name="Picture 121" descr="MdAutoAwesome-D98F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" y="1583009"/>
            <a:ext cx="235549" cy="235549"/>
          </a:xfrm>
          <a:prstGeom prst="rect">
            <a:avLst/>
          </a:prstGeom>
        </p:spPr>
      </p:pic>
      <p:sp>
        <p:nvSpPr>
          <p:cNvPr id="123" name="Google AI text"/>
          <p:cNvSpPr txBox="1"/>
          <p:nvPr/>
        </p:nvSpPr>
        <p:spPr>
          <a:xfrm>
            <a:off x="521208" y="2039112"/>
            <a:ext cx="1677924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Google AI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Gemini 3.8 Live: real-time Japanese voice, native audio, built-in transcription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Gemini 3.8 Flash: extraction, screening, planning, and judging the evals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Google Gen AI SDK, Python and JavaScript; ephemeral tokens</a:t>
            </a:r>
          </a:p>
        </p:txBody>
      </p:sp>
      <p:sp>
        <p:nvSpPr>
          <p:cNvPr id="124" name="Google Cloud"/>
          <p:cNvSpPr/>
          <p:nvPr/>
        </p:nvSpPr>
        <p:spPr>
          <a:xfrm>
            <a:off x="2510028" y="1325880"/>
            <a:ext cx="1970532" cy="2834640"/>
          </a:xfrm>
          <a:prstGeom prst="roundRect">
            <a:avLst>
              <a:gd name="adj" fmla="val 5568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674620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6" name="Picture 125" descr="MdCloud-D98F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7157" y="1583009"/>
            <a:ext cx="235549" cy="235549"/>
          </a:xfrm>
          <a:prstGeom prst="rect">
            <a:avLst/>
          </a:prstGeom>
        </p:spPr>
      </p:pic>
      <p:sp>
        <p:nvSpPr>
          <p:cNvPr id="127" name="Google Cloud text"/>
          <p:cNvSpPr txBox="1"/>
          <p:nvPr/>
        </p:nvSpPr>
        <p:spPr>
          <a:xfrm>
            <a:off x="2674620" y="2039112"/>
            <a:ext cx="1677924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Google Cloud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Cloud Run: the API and the web app in one container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Firestore: people, sessions, stories, plans, questions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Cloud Storage: recordings, uploaded in parts</a:t>
            </a:r>
          </a:p>
        </p:txBody>
      </p:sp>
      <p:sp>
        <p:nvSpPr>
          <p:cNvPr id="128" name="Application"/>
          <p:cNvSpPr/>
          <p:nvPr/>
        </p:nvSpPr>
        <p:spPr>
          <a:xfrm>
            <a:off x="4663440" y="1325880"/>
            <a:ext cx="1970532" cy="2834640"/>
          </a:xfrm>
          <a:prstGeom prst="roundRect">
            <a:avLst>
              <a:gd name="adj" fmla="val 5568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4828032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0" name="Picture 129" descr="MdTabletAndroid-D98F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0569" y="1583009"/>
            <a:ext cx="235549" cy="235549"/>
          </a:xfrm>
          <a:prstGeom prst="rect">
            <a:avLst/>
          </a:prstGeom>
        </p:spPr>
      </p:pic>
      <p:sp>
        <p:nvSpPr>
          <p:cNvPr id="131" name="Application text"/>
          <p:cNvSpPr txBox="1"/>
          <p:nvPr/>
        </p:nvSpPr>
        <p:spPr>
          <a:xfrm>
            <a:off x="4828032" y="2039112"/>
            <a:ext cx="1677924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Application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React 19, Vite, TypeScript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Web Audio worklet: 16 kHz capture, stereo recording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FastAPI on Python 3.13, managed with uv</a:t>
            </a:r>
          </a:p>
        </p:txBody>
      </p:sp>
      <p:sp>
        <p:nvSpPr>
          <p:cNvPr id="132" name="Quality"/>
          <p:cNvSpPr/>
          <p:nvPr/>
        </p:nvSpPr>
        <p:spPr>
          <a:xfrm>
            <a:off x="6816852" y="1325880"/>
            <a:ext cx="1970532" cy="2834640"/>
          </a:xfrm>
          <a:prstGeom prst="roundRect">
            <a:avLst>
              <a:gd name="adj" fmla="val 5568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6981444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4" name="Picture 133" descr="MdFactCheck-D98F4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3981" y="1583009"/>
            <a:ext cx="235549" cy="235549"/>
          </a:xfrm>
          <a:prstGeom prst="rect">
            <a:avLst/>
          </a:prstGeom>
        </p:spPr>
      </p:pic>
      <p:sp>
        <p:nvSpPr>
          <p:cNvPr id="135" name="Quality text"/>
          <p:cNvSpPr txBox="1"/>
          <p:nvPr/>
        </p:nvSpPr>
        <p:spPr>
          <a:xfrm>
            <a:off x="6981444" y="2039112"/>
            <a:ext cx="1677924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2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Quality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pytest and Playwright against the live API, with synthesized Japanese speech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AI-vs-AI sparring: three personas, real audio both ways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GitHub Actions: checks on every push, the live eval nightly</a:t>
            </a:r>
          </a:p>
        </p:txBody>
      </p:sp>
      <p:sp>
        <p:nvSpPr>
          <p:cNvPr id="136" name="Principle"/>
          <p:cNvSpPr/>
          <p:nvPr/>
        </p:nvSpPr>
        <p:spPr>
          <a:xfrm>
            <a:off x="356616" y="4315968"/>
            <a:ext cx="8430768" cy="566928"/>
          </a:xfrm>
          <a:prstGeom prst="roundRect">
            <a:avLst>
              <a:gd name="adj" fmla="val 19354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Principle text"/>
          <p:cNvSpPr txBox="1"/>
          <p:nvPr/>
        </p:nvSpPr>
        <p:spPr>
          <a:xfrm>
            <a:off x="585216" y="4352544"/>
            <a:ext cx="7973568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One rule across the stack  </a:t>
            </a:r>
            <a:r>
              <a:rPr lang="en-GB" sz="1000" dirty="0">
                <a:solidFill>
                  <a:srgbClr val="F0EBE5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The model never speaks for her. Gemini extracts the stories; plain code then checks every quote, and every yes to sharing, against the transcript.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Cost summary"/>
          <p:cNvSpPr/>
          <p:nvPr/>
        </p:nvSpPr>
        <p:spPr>
          <a:xfrm>
            <a:off x="356616" y="1325880"/>
            <a:ext cx="2743200" cy="3547872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Cost summary text"/>
          <p:cNvSpPr txBox="1"/>
          <p:nvPr/>
        </p:nvSpPr>
        <p:spPr>
          <a:xfrm>
            <a:off x="612648" y="1554480"/>
            <a:ext cx="2286000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34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≈ $0.12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50" dirty="0">
                <a:solidFill>
                  <a:srgbClr val="F0EBE5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per 10-minute conversation, in AI and cloud, at list prices</a:t>
            </a:r>
          </a:p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600" dirty="0">
                <a:solidFill>
                  <a:srgbClr val="F0EBE5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≈ ¥6,400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150" dirty="0">
                <a:solidFill>
                  <a:srgbClr val="F0EBE5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for a year of daily conversations, per person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B5ABA1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Under 3% of one ¥220,000 self-history written by hand.</a:t>
            </a:r>
          </a:p>
        </p:txBody>
      </p: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3337560" y="1325880"/>
          <a:ext cx="5449824" cy="26883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91640"/>
                <a:gridCol w="2743200"/>
                <a:gridCol w="1014984"/>
              </a:tblGrid>
              <a:tr h="38404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Item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1F1F1F"/>
                      </a:solidFill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Basis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1F1F1F"/>
                      </a:solidFill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FFFFFF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Per session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1F1F1F"/>
                      </a:solidFill>
                    </a:lnB>
                    <a:solidFill>
                      <a:srgbClr val="1F1F1F"/>
                    </a:solidFill>
                  </a:tcPr>
                </a:tc>
              </a:tr>
              <a:tr h="38404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Gemini Live, audio in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$0.005 a minute, for all 10 minutes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$0.050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Gemini Live, audio out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$0.018 a minute, about 2.5 minutes spoken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$0.045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Gemini Flash processing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≈ 15k tokens in, 3k out, across four passes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$0.023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Recording storage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58 MB of WAV, at ≈ $0.023 per GB-month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&lt; $0.002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Cloud Run, Firestore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Scale to zero; free tiers at this scale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≈ $0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Total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/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dirty="0">
                          <a:solidFill>
                            <a:srgbClr val="202124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≈ $0.12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Cost notes"/>
          <p:cNvSpPr txBox="1"/>
          <p:nvPr/>
        </p:nvSpPr>
        <p:spPr>
          <a:xfrm>
            <a:off x="3337560" y="4160520"/>
            <a:ext cx="544982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Audio is billed for the whole time a session is open, silence included. Rates are Google's list prices as of 23 Sep 2026, kept in backend/costs.py; the Flash token counts are estimates. Yen at ¥150 to the dollar.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conso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1280160"/>
            <a:ext cx="2621280" cy="2621280"/>
          </a:xfrm>
          <a:prstGeom prst="roundRect">
            <a:avLst>
              <a:gd name="adj" fmla="val 3488"/>
            </a:avLst>
          </a:prstGeom>
        </p:spPr>
      </p:pic>
      <p:sp>
        <p:nvSpPr>
          <p:cNvPr id="137" name="Interview console caption"/>
          <p:cNvSpPr txBox="1"/>
          <p:nvPr/>
        </p:nvSpPr>
        <p:spPr>
          <a:xfrm>
            <a:off x="356616" y="3992880"/>
            <a:ext cx="2621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Interview console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Who is being interviewed, which voice, and how long to wait: 5 s, measured, against the model's 0.8 s default.</a:t>
            </a:r>
          </a:p>
        </p:txBody>
      </p:sp>
      <p:pic>
        <p:nvPicPr>
          <p:cNvPr id="138" name="Picture 137" descr="ses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1360" y="1280160"/>
            <a:ext cx="2621280" cy="2621280"/>
          </a:xfrm>
          <a:prstGeom prst="roundRect">
            <a:avLst>
              <a:gd name="adj" fmla="val 3488"/>
            </a:avLst>
          </a:prstGeom>
        </p:spPr>
      </p:pic>
      <p:sp>
        <p:nvSpPr>
          <p:cNvPr id="139" name="After the session caption"/>
          <p:cNvSpPr txBox="1"/>
          <p:nvPr/>
        </p:nvSpPr>
        <p:spPr>
          <a:xfrm>
            <a:off x="3261360" y="3992880"/>
            <a:ext cx="2621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After the session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story extracted from a live session: life stage, people, places, and her quote matched to the turn it came from.</a:t>
            </a:r>
          </a:p>
        </p:txBody>
      </p:sp>
      <p:pic>
        <p:nvPicPr>
          <p:cNvPr id="140" name="Picture 139" descr="famil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6104" y="1280160"/>
            <a:ext cx="2621280" cy="2621280"/>
          </a:xfrm>
          <a:prstGeom prst="roundRect">
            <a:avLst>
              <a:gd name="adj" fmla="val 3488"/>
            </a:avLst>
          </a:prstGeom>
        </p:spPr>
      </p:pic>
      <p:sp>
        <p:nvSpPr>
          <p:cNvPr id="141" name="Family page caption"/>
          <p:cNvSpPr txBox="1"/>
          <p:nvPr/>
        </p:nvSpPr>
        <p:spPr>
          <a:xfrm>
            <a:off x="6166104" y="3992880"/>
            <a:ext cx="262128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Family page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Her granddaughter's question, the story that answers it, and her own words, one tap from her voice.</a:t>
            </a:r>
          </a:p>
        </p:txBody>
      </p:sp>
      <p:sp>
        <p:nvSpPr>
          <p:cNvPr id="142" name="Data note"/>
          <p:cNvSpPr txBox="1"/>
          <p:nvPr/>
        </p:nvSpPr>
        <p:spPr>
          <a:xfrm>
            <a:off x="5852160" y="813816"/>
            <a:ext cx="293522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Test persona 田中ハル, voiced by synthesized speech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esult 12 / 12"/>
          <p:cNvSpPr/>
          <p:nvPr/>
        </p:nvSpPr>
        <p:spPr>
          <a:xfrm>
            <a:off x="356616" y="1325880"/>
            <a:ext cx="1970532" cy="1325880"/>
          </a:xfrm>
          <a:prstGeom prst="roundRect">
            <a:avLst>
              <a:gd name="adj" fmla="val 8275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sult 12 / 12 text"/>
          <p:cNvSpPr txBox="1"/>
          <p:nvPr/>
        </p:nvSpPr>
        <p:spPr>
          <a:xfrm>
            <a:off x="539496" y="1453896"/>
            <a:ext cx="165049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4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12 / 12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F0EBE5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Consent: a clear yes shared the story; a no, a hesitation or never being asked kept it private</a:t>
            </a:r>
          </a:p>
        </p:txBody>
      </p:sp>
      <p:sp>
        <p:nvSpPr>
          <p:cNvPr id="146" name="Result 9 / 9"/>
          <p:cNvSpPr/>
          <p:nvPr/>
        </p:nvSpPr>
        <p:spPr>
          <a:xfrm>
            <a:off x="2510028" y="1325880"/>
            <a:ext cx="1970532" cy="1325880"/>
          </a:xfrm>
          <a:prstGeom prst="roundRect">
            <a:avLst>
              <a:gd name="adj" fmla="val 8275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sult 9 / 9 text"/>
          <p:cNvSpPr txBox="1"/>
          <p:nvPr/>
        </p:nvSpPr>
        <p:spPr>
          <a:xfrm>
            <a:off x="2692908" y="1453896"/>
            <a:ext cx="165049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4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9 / 9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F0EBE5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Family questions: answered, never raised, or let pass, each reported correctly</a:t>
            </a:r>
          </a:p>
        </p:txBody>
      </p:sp>
      <p:sp>
        <p:nvSpPr>
          <p:cNvPr id="148" name="Result 6 / 6"/>
          <p:cNvSpPr/>
          <p:nvPr/>
        </p:nvSpPr>
        <p:spPr>
          <a:xfrm>
            <a:off x="4663440" y="1325880"/>
            <a:ext cx="1970532" cy="1325880"/>
          </a:xfrm>
          <a:prstGeom prst="roundRect">
            <a:avLst>
              <a:gd name="adj" fmla="val 8275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sult 6 / 6 text"/>
          <p:cNvSpPr txBox="1"/>
          <p:nvPr/>
        </p:nvSpPr>
        <p:spPr>
          <a:xfrm>
            <a:off x="4846320" y="1453896"/>
            <a:ext cx="165049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4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6 / 6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F0EBE5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Openings that recall last time, then put the family's question</a:t>
            </a:r>
          </a:p>
        </p:txBody>
      </p:sp>
      <p:sp>
        <p:nvSpPr>
          <p:cNvPr id="150" name="Result 6 min"/>
          <p:cNvSpPr/>
          <p:nvPr/>
        </p:nvSpPr>
        <p:spPr>
          <a:xfrm>
            <a:off x="6816852" y="1325880"/>
            <a:ext cx="1970532" cy="1325880"/>
          </a:xfrm>
          <a:prstGeom prst="roundRect">
            <a:avLst>
              <a:gd name="adj" fmla="val 8275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esult 6 min text"/>
          <p:cNvSpPr txBox="1"/>
          <p:nvPr/>
        </p:nvSpPr>
        <p:spPr>
          <a:xfrm>
            <a:off x="6999732" y="1453896"/>
            <a:ext cx="1650492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4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6 min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F0EBE5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browser session with no drop, 34 transcript entries. Run every night</a:t>
            </a:r>
          </a:p>
        </p:txBody>
      </p:sp>
      <p:sp>
        <p:nvSpPr>
          <p:cNvPr id="152" name="Patience title"/>
          <p:cNvSpPr txBox="1"/>
          <p:nvPr/>
        </p:nvSpPr>
        <p:spPr>
          <a:xfrm>
            <a:off x="356616" y="28346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How long it waits before replying</a:t>
            </a: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/>
        </p:nvGraphicFramePr>
        <p:xfrm>
          <a:off x="356616" y="3154680"/>
          <a:ext cx="393192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1325880"/>
                <a:gridCol w="1188720"/>
              </a:tblGrid>
              <a:tr h="2743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Patience setting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1F1F1F"/>
                      </a:solidFill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Pause in speech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1F1F1F"/>
                      </a:solidFill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FFFFFF"/>
                          </a:solidFill>
                          <a:latin typeface="Google Sans Flex SemiBold"/>
                          <a:ea typeface="Hiragino Sans"/>
                          <a:cs typeface="Google Sans Flex SemiBold"/>
                          <a:sym typeface="Google Sans Flex SemiBold"/>
                        </a:rPr>
                        <a:t>Result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1F1F1F"/>
                      </a:solidFill>
                    </a:lnB>
                    <a:solidFill>
                      <a:srgbClr val="1F1F1F"/>
                    </a:solidFill>
                  </a:tcPr>
                </a:tc>
              </a:tr>
              <a:tr h="2743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3,500 ms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1.5 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Waited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3,500 ms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2.5 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Cut in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6,000 ms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2.5 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Waited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6,000 ms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4.0 s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rgbClr val="202124"/>
                          </a:solidFill>
                          <a:latin typeface="Google Sans Flex"/>
                          <a:ea typeface="Hiragino Sans"/>
                          <a:cs typeface="Google Sans Flex"/>
                          <a:sym typeface="Google Sans Flex"/>
                        </a:rPr>
                        <a:t>Waited</a:t>
                      </a:r>
                    </a:p>
                  </a:txBody>
                  <a:tcPr marL="91440" marR="91440" marT="27432" marB="27432" anchor="ctr">
                    <a:lnB w="6350">
                      <a:solidFill>
                        <a:srgbClr val="DADC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Patience note"/>
          <p:cNvSpPr txBox="1"/>
          <p:nvPr/>
        </p:nvSpPr>
        <p:spPr>
          <a:xfrm>
            <a:off x="356616" y="459028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dirty="0">
                <a:solidFill>
                  <a:srgbClr val="A0561B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Default set to 5,000 ms. The model's own is 800 ms.</a:t>
            </a:r>
          </a:p>
        </p:txBody>
      </p:sp>
      <p:sp>
        <p:nvSpPr>
          <p:cNvPr id="155" name="Method"/>
          <p:cNvSpPr txBox="1"/>
          <p:nvPr/>
        </p:nvSpPr>
        <p:spPr>
          <a:xfrm>
            <a:off x="4572000" y="2834640"/>
            <a:ext cx="4215384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15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How it is measured</a:t>
            </a:r>
          </a:p>
          <a:p>
            <a:pPr algn="l" marL="139700" indent="-1397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Real models, three runs a case. Japanese speech is streamed at the Live API in real time; replies are graded by rules and by a model judging them against the interviewer's own prompt.</a:t>
            </a:r>
          </a:p>
          <a:p>
            <a:pPr algn="l" marL="139700" indent="-1397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AI-vs-AI sparring: three personas press a long pause, a refused topic, a change of subject.</a:t>
            </a:r>
          </a:p>
          <a:p>
            <a:pPr algn="l" marL="139700" indent="-1397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Family questions about a topic she refused, the war and the evacuation, were held back; the rest went through. 3 of 3.</a:t>
            </a:r>
          </a:p>
          <a:p>
            <a:pPr algn="l" marL="139700" indent="-13970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Not yet measured: elderly voices and dialect. A native speaker reviews with the demo take.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Next, on the same tablet"/>
          <p:cNvSpPr/>
          <p:nvPr/>
        </p:nvSpPr>
        <p:spPr>
          <a:xfrm>
            <a:off x="356616" y="1325880"/>
            <a:ext cx="2676144" cy="2514600"/>
          </a:xfrm>
          <a:prstGeom prst="roundRect">
            <a:avLst>
              <a:gd name="adj" fmla="val 436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21208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" name="Picture 153" descr="MdSensors-D98F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" y="1583009"/>
            <a:ext cx="235549" cy="235549"/>
          </a:xfrm>
          <a:prstGeom prst="rect">
            <a:avLst/>
          </a:prstGeom>
        </p:spPr>
      </p:pic>
      <p:sp>
        <p:nvSpPr>
          <p:cNvPr id="155" name="Next, on the same tablet text"/>
          <p:cNvSpPr txBox="1"/>
          <p:nvPr/>
        </p:nvSpPr>
        <p:spPr>
          <a:xfrm>
            <a:off x="521208" y="2039112"/>
            <a:ext cx="2365248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Next, on the same tablet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It notices her sitting nearby, so there is no button at all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Names it is unsure of kept in kana; the family fixes the spelling in one tap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message to the family when a new story lands</a:t>
            </a:r>
          </a:p>
        </p:txBody>
      </p:sp>
      <p:sp>
        <p:nvSpPr>
          <p:cNvPr id="156" name="New channels, the same brain"/>
          <p:cNvSpPr/>
          <p:nvPr/>
        </p:nvSpPr>
        <p:spPr>
          <a:xfrm>
            <a:off x="3233928" y="1325880"/>
            <a:ext cx="2676144" cy="2514600"/>
          </a:xfrm>
          <a:prstGeom prst="roundRect">
            <a:avLst>
              <a:gd name="adj" fmla="val 436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398520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8" name="Picture 157" descr="MdPhoneInTalk-D98F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1057" y="1583009"/>
            <a:ext cx="235549" cy="235549"/>
          </a:xfrm>
          <a:prstGeom prst="rect">
            <a:avLst/>
          </a:prstGeom>
        </p:spPr>
      </p:pic>
      <p:sp>
        <p:nvSpPr>
          <p:cNvPr id="159" name="New channels, the same brain text"/>
          <p:cNvSpPr txBox="1"/>
          <p:nvPr/>
        </p:nvSpPr>
        <p:spPr>
          <a:xfrm>
            <a:off x="3398520" y="2039112"/>
            <a:ext cx="2365248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New channels, the same brain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Phone and landline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Smart speakers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Inside the companion robots Japanese families already buy</a:t>
            </a:r>
          </a:p>
        </p:txBody>
      </p:sp>
      <p:sp>
        <p:nvSpPr>
          <p:cNvPr id="160" name="Beyond the family"/>
          <p:cNvSpPr/>
          <p:nvPr/>
        </p:nvSpPr>
        <p:spPr>
          <a:xfrm>
            <a:off x="6111240" y="1325880"/>
            <a:ext cx="2676144" cy="2514600"/>
          </a:xfrm>
          <a:prstGeom prst="roundRect">
            <a:avLst>
              <a:gd name="adj" fmla="val 4363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275832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2" name="Picture 161" descr="MdGroups-D98F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369" y="1583009"/>
            <a:ext cx="235549" cy="235549"/>
          </a:xfrm>
          <a:prstGeom prst="rect">
            <a:avLst/>
          </a:prstGeom>
        </p:spPr>
      </p:pic>
      <p:sp>
        <p:nvSpPr>
          <p:cNvPr id="163" name="Beyond the family text"/>
          <p:cNvSpPr txBox="1"/>
          <p:nvPr/>
        </p:nvSpPr>
        <p:spPr>
          <a:xfrm>
            <a:off x="6275832" y="2039112"/>
            <a:ext cx="2365248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Beyond the family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Sharing with whoever she chooses: a friend, a care worker, a local archive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Municipalities as payers: Yokosuka City has trialled conversation AI for seniors since 2025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printed book of her stories</a:t>
            </a:r>
          </a:p>
        </p:txBody>
      </p:sp>
      <p:sp>
        <p:nvSpPr>
          <p:cNvPr id="164" name="Scale"/>
          <p:cNvSpPr/>
          <p:nvPr/>
        </p:nvSpPr>
        <p:spPr>
          <a:xfrm>
            <a:off x="356616" y="4023360"/>
            <a:ext cx="8430768" cy="850392"/>
          </a:xfrm>
          <a:prstGeom prst="roundRect">
            <a:avLst>
              <a:gd name="adj" fmla="val 12903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Scale text"/>
          <p:cNvSpPr txBox="1"/>
          <p:nvPr/>
        </p:nvSpPr>
        <p:spPr>
          <a:xfrm>
            <a:off x="585216" y="4114800"/>
            <a:ext cx="7973568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How it scales  </a:t>
            </a:r>
            <a:r>
              <a:rPr lang="en-GB" sz="1050" dirty="0">
                <a:solidFill>
                  <a:srgbClr val="F0EBE5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Every channel plugs into the same backend. Cloud Run scales to zero and out. Gemini moves to Vertex AI in a Japanese region, behind one adapter, when data residency matters.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lang="en-GB" sz="1400" dirty="0">
                <a:solidFill>
                  <a:srgbClr val="202124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:  </a:t>
            </a:r>
            <a:r>
              <a:rPr lang="en-GB" sz="1400" dirty="0">
                <a:solidFill>
                  <a:srgbClr val="A0561B"/>
                </a:solidFill>
                <a:latin typeface="Google Sans Flex Medium"/>
                <a:ea typeface="Hiragino Sans"/>
                <a:cs typeface="Google Sans Flex Medium"/>
                <a:sym typeface="Google Sans Flex Medium"/>
                <a:hlinkClick r:id="rId5"/>
              </a:rPr>
              <a:t>github.com/tpemeja/kataribe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lang="en-GB" sz="1400" dirty="0">
                <a:solidFill>
                  <a:srgbClr val="202124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:  </a:t>
            </a:r>
            <a:r>
              <a:rPr lang="en-GB" sz="1400" dirty="0">
                <a:solidFill>
                  <a:srgbClr val="C522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TBD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lang="en-GB" sz="1400" dirty="0">
                <a:solidFill>
                  <a:srgbClr val="202124"/>
                </a:solidFill>
                <a:latin typeface="Google Sans Flex Medium"/>
                <a:ea typeface="Hiragino Sans"/>
                <a:cs typeface="Google Sans Flex Medium"/>
                <a:sym typeface="Google Sans Flex Medium"/>
              </a:rPr>
              <a:t>:  </a:t>
            </a:r>
            <a:r>
              <a:rPr lang="en-GB" sz="1400" dirty="0">
                <a:solidFill>
                  <a:srgbClr val="C5221F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TBD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60" name="Picture 159" descr="qr-re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2514600"/>
            <a:ext cx="1554480" cy="1554480"/>
          </a:xfrm>
          <a:prstGeom prst="rect">
            <a:avLst/>
          </a:prstGeom>
        </p:spPr>
      </p:pic>
      <p:sp>
        <p:nvSpPr>
          <p:cNvPr id="161" name="Repo note"/>
          <p:cNvSpPr txBox="1"/>
          <p:nvPr/>
        </p:nvSpPr>
        <p:spPr>
          <a:xfrm>
            <a:off x="2231136" y="278892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The code, the tests, and the plan behind them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F6368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Built in the open over four weeks, from the first commit on 22 Sep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Community benefit and business case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For her"/>
          <p:cNvSpPr/>
          <p:nvPr/>
        </p:nvSpPr>
        <p:spPr>
          <a:xfrm>
            <a:off x="356616" y="1325880"/>
            <a:ext cx="2676144" cy="2331720"/>
          </a:xfrm>
          <a:prstGeom prst="roundRect">
            <a:avLst>
              <a:gd name="adj" fmla="val 4705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521208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9" name="Picture 168" descr="MdElderly-D98F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" y="1583009"/>
            <a:ext cx="235549" cy="235549"/>
          </a:xfrm>
          <a:prstGeom prst="rect">
            <a:avLst/>
          </a:prstGeom>
        </p:spPr>
      </p:pic>
      <p:sp>
        <p:nvSpPr>
          <p:cNvPr id="170" name="For her text"/>
          <p:cNvSpPr txBox="1"/>
          <p:nvPr/>
        </p:nvSpPr>
        <p:spPr>
          <a:xfrm>
            <a:off x="521208" y="2039112"/>
            <a:ext cx="2365248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For her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Being listened to, a few minutes every day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Reminiscence (回想法) is established practice in Japanese elderly care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life story that lasts, in her own words</a:t>
            </a:r>
          </a:p>
        </p:txBody>
      </p:sp>
      <p:sp>
        <p:nvSpPr>
          <p:cNvPr id="171" name="For her family"/>
          <p:cNvSpPr/>
          <p:nvPr/>
        </p:nvSpPr>
        <p:spPr>
          <a:xfrm>
            <a:off x="3233928" y="1325880"/>
            <a:ext cx="2676144" cy="2331720"/>
          </a:xfrm>
          <a:prstGeom prst="roundRect">
            <a:avLst>
              <a:gd name="adj" fmla="val 4705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398520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3" name="Picture 172" descr="MdFamilyRestroom-D98F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1057" y="1583009"/>
            <a:ext cx="235549" cy="235549"/>
          </a:xfrm>
          <a:prstGeom prst="rect">
            <a:avLst/>
          </a:prstGeom>
        </p:spPr>
      </p:pic>
      <p:sp>
        <p:nvSpPr>
          <p:cNvPr id="174" name="For her family text"/>
          <p:cNvSpPr txBox="1"/>
          <p:nvPr/>
        </p:nvSpPr>
        <p:spPr>
          <a:xfrm>
            <a:off x="3398520" y="2039112"/>
            <a:ext cx="2365248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For her family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Stories they never found the time to ask about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Her voice behind every quote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reason to call, and to ask more</a:t>
            </a:r>
          </a:p>
        </p:txBody>
      </p:sp>
      <p:sp>
        <p:nvSpPr>
          <p:cNvPr id="175" name="For the community"/>
          <p:cNvSpPr/>
          <p:nvPr/>
        </p:nvSpPr>
        <p:spPr>
          <a:xfrm>
            <a:off x="6111240" y="1325880"/>
            <a:ext cx="2676144" cy="2331720"/>
          </a:xfrm>
          <a:prstGeom prst="roundRect">
            <a:avLst>
              <a:gd name="adj" fmla="val 4705"/>
            </a:avLst>
          </a:prstGeom>
          <a:solidFill>
            <a:srgbClr val="F1F3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6275832" y="1490472"/>
            <a:ext cx="420624" cy="420624"/>
          </a:xfrm>
          <a:prstGeom prst="ellipse">
            <a:avLst/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7" name="Picture 176" descr="MdGroups-D98F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369" y="1583009"/>
            <a:ext cx="235549" cy="235549"/>
          </a:xfrm>
          <a:prstGeom prst="rect">
            <a:avLst/>
          </a:prstGeom>
        </p:spPr>
      </p:pic>
      <p:sp>
        <p:nvSpPr>
          <p:cNvPr id="178" name="For the community text"/>
          <p:cNvSpPr txBox="1"/>
          <p:nvPr/>
        </p:nvSpPr>
        <p:spPr>
          <a:xfrm>
            <a:off x="6275832" y="2039112"/>
            <a:ext cx="2365248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GB" sz="1200" dirty="0">
                <a:solidFill>
                  <a:srgbClr val="202124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For the community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Many of the 6.72 million who live alone have nobody nearby. The interviewer plans its own questions, so no family is needed</a:t>
            </a:r>
          </a:p>
          <a:p>
            <a:pPr algn="l" marL="146685" indent="-146685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olidFill>
                  <a:srgbClr val="D98F4E"/>
                </a:solidFill>
              </a:buClr>
              <a:buSzPct val="100000"/>
              <a:buFont typeface="Arial"/>
              <a:buChar char="•"/>
            </a:pPr>
            <a:r>
              <a:rPr lang="en-GB" sz="1050" dirty="0">
                <a:solidFill>
                  <a:srgbClr val="202124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local archive is the original kataribe</a:t>
            </a:r>
          </a:p>
        </p:txBody>
      </p:sp>
      <p:sp>
        <p:nvSpPr>
          <p:cNvPr id="179" name="Who pays"/>
          <p:cNvSpPr/>
          <p:nvPr/>
        </p:nvSpPr>
        <p:spPr>
          <a:xfrm>
            <a:off x="356616" y="3840480"/>
            <a:ext cx="8430768" cy="1033272"/>
          </a:xfrm>
          <a:prstGeom prst="roundRect">
            <a:avLst>
              <a:gd name="adj" fmla="val 10619"/>
            </a:avLst>
          </a:prstGeom>
          <a:solidFill>
            <a:srgbClr val="1F1F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85216" y="3950208"/>
            <a:ext cx="118872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D98F4E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Who pays</a:t>
            </a:r>
          </a:p>
        </p:txBody>
      </p:sp>
      <p:sp>
        <p:nvSpPr>
          <p:cNvPr id="181" name="Payer 1"/>
          <p:cNvSpPr txBox="1"/>
          <p:nvPr/>
        </p:nvSpPr>
        <p:spPr>
          <a:xfrm>
            <a:off x="1773936" y="3950208"/>
            <a:ext cx="2093976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050" dirty="0">
                <a:solidFill>
                  <a:srgbClr val="F0EBE5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Families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B5ABA1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A subscription, against a ¥220,000 one-off book</a:t>
            </a:r>
          </a:p>
        </p:txBody>
      </p:sp>
      <p:sp>
        <p:nvSpPr>
          <p:cNvPr id="182" name="Payer 2"/>
          <p:cNvSpPr txBox="1"/>
          <p:nvPr/>
        </p:nvSpPr>
        <p:spPr>
          <a:xfrm>
            <a:off x="4050792" y="3950208"/>
            <a:ext cx="2093976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050" dirty="0">
                <a:solidFill>
                  <a:srgbClr val="F0EBE5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Municipalities and care providers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B5ABA1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Preventive care and reminiscence programmes</a:t>
            </a:r>
          </a:p>
        </p:txBody>
      </p:sp>
      <p:sp>
        <p:nvSpPr>
          <p:cNvPr id="183" name="Payer 3"/>
          <p:cNvSpPr txBox="1"/>
          <p:nvPr/>
        </p:nvSpPr>
        <p:spPr>
          <a:xfrm>
            <a:off x="6327648" y="3950208"/>
            <a:ext cx="2093976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050" dirty="0">
                <a:solidFill>
                  <a:srgbClr val="F0EBE5"/>
                </a:solidFill>
                <a:latin typeface="Google Sans Flex SemiBold"/>
                <a:ea typeface="Hiragino Sans"/>
                <a:cs typeface="Google Sans Flex SemiBold"/>
                <a:sym typeface="Google Sans Flex SemiBold"/>
              </a:rPr>
              <a:t>Cost to serve</a:t>
            </a:r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B5ABA1"/>
                </a:solidFill>
                <a:latin typeface="Google Sans Flex"/>
                <a:ea typeface="Hiragino Sans"/>
                <a:cs typeface="Google Sans Flex"/>
                <a:sym typeface="Google Sans Flex"/>
              </a:rPr>
              <a:t>≈ ¥530 a month for a daily conversation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